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E53995-37DF-4669-AC12-19A7A7A643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CA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CA" sz="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2897AE-259F-4F8E-933B-456E20782A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CA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FAC72A-9B1E-4E26-B2AD-BCA5FB2B01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CA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CF622F-7FA1-4D5A-B75D-01ADDCA6D4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6323DA-2C5A-42B1-9B6E-C7BC26810E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CA" sz="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248161-BE9A-4F27-96D9-833561C57B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CA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7CF03B-1823-4605-9817-CF40F9E726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CA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5A9457-1014-40D6-82DB-2F6EA6AD48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CA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CCAF66-DF9B-4FB2-9846-2FAF244943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CA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085105-F51D-4CB8-B41E-6A47815F93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CA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A69079-DAB1-4737-B412-F2773A26DE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CA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AA9710-596C-4A5B-A1D3-EEBACDB0BB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fr-CA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fr-CA" sz="1400" spc="-1" strike="noStrike">
                <a:latin typeface="Times New Roman"/>
              </a:rPr>
              <a:t>&lt;pied de page&gt;</a:t>
            </a:r>
            <a:endParaRPr b="0" lang="fr-CA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0F5987-EFD3-4EFD-90B9-4E104A50137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&lt;numéro&gt;</a:t>
            </a:fld>
            <a:endParaRPr b="0" lang="fr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fr-CA" sz="1400" spc="-1" strike="noStrike">
                <a:latin typeface="Times New Roman"/>
              </a:defRPr>
            </a:lvl1pPr>
          </a:lstStyle>
          <a:p>
            <a:r>
              <a:rPr b="0" lang="fr-CA" sz="1400" spc="-1" strike="noStrike">
                <a:latin typeface="Times New Roman"/>
              </a:rPr>
              <a:t>&lt;date/heure&gt;</a:t>
            </a:r>
            <a:endParaRPr b="0" lang="fr-CA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CA" sz="4400" spc="-1" strike="noStrike">
                <a:latin typeface="Arial"/>
              </a:rPr>
              <a:t>Cliquez </a:t>
            </a:r>
            <a:r>
              <a:rPr b="0" lang="fr-CA" sz="4400" spc="-1" strike="noStrike">
                <a:latin typeface="Arial"/>
              </a:rPr>
              <a:t>pour </a:t>
            </a:r>
            <a:r>
              <a:rPr b="0" lang="fr-CA" sz="4400" spc="-1" strike="noStrike">
                <a:latin typeface="Arial"/>
              </a:rPr>
              <a:t>éditer le </a:t>
            </a:r>
            <a:r>
              <a:rPr b="0" lang="fr-CA" sz="4400" spc="-1" strike="noStrike">
                <a:latin typeface="Arial"/>
              </a:rPr>
              <a:t>format </a:t>
            </a:r>
            <a:r>
              <a:rPr b="0" lang="fr-CA" sz="4400" spc="-1" strike="noStrike">
                <a:latin typeface="Arial"/>
              </a:rPr>
              <a:t>du </a:t>
            </a:r>
            <a:r>
              <a:rPr b="0" lang="fr-CA" sz="4400" spc="-1" strike="noStrike">
                <a:latin typeface="Arial"/>
              </a:rPr>
              <a:t>texte-</a:t>
            </a:r>
            <a:r>
              <a:rPr b="0" lang="fr-CA" sz="4400" spc="-1" strike="noStrike">
                <a:latin typeface="Arial"/>
              </a:rPr>
              <a:t>titre</a:t>
            </a:r>
            <a:endParaRPr b="0" lang="fr-CA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CA" sz="3200" spc="-1" strike="noStrike">
                <a:latin typeface="Arial"/>
              </a:rPr>
              <a:t>Cliquez pour éditer le format du plan de texte</a:t>
            </a:r>
            <a:endParaRPr b="0" lang="fr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CA" sz="2800" spc="-1" strike="noStrike">
                <a:latin typeface="Arial"/>
              </a:rPr>
              <a:t>Second niveau de plan</a:t>
            </a:r>
            <a:endParaRPr b="0" lang="fr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CA" sz="2400" spc="-1" strike="noStrike">
                <a:latin typeface="Arial"/>
              </a:rPr>
              <a:t>Troisième niveau de plan</a:t>
            </a:r>
            <a:endParaRPr b="0" lang="fr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CA" sz="2000" spc="-1" strike="noStrike">
                <a:latin typeface="Arial"/>
              </a:rPr>
              <a:t>Quatrième niveau de plan</a:t>
            </a:r>
            <a:endParaRPr b="0" lang="fr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CA" sz="2000" spc="-1" strike="noStrike">
                <a:latin typeface="Arial"/>
              </a:rPr>
              <a:t>Cinquième niveau de plan</a:t>
            </a:r>
            <a:endParaRPr b="0" lang="fr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CA" sz="2000" spc="-1" strike="noStrike">
                <a:latin typeface="Arial"/>
              </a:rPr>
              <a:t>Sixième niveau de plan</a:t>
            </a:r>
            <a:endParaRPr b="0" lang="fr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CA" sz="2000" spc="-1" strike="noStrike">
                <a:latin typeface="Arial"/>
              </a:rPr>
              <a:t>Septième niveau de plan</a:t>
            </a:r>
            <a:endParaRPr b="0" lang="fr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457200" y="2834640"/>
            <a:ext cx="226080" cy="109476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900000" y="720000"/>
            <a:ext cx="109702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aa3b2"/>
                </a:solidFill>
                <a:latin typeface="Consolas"/>
                <a:ea typeface="DejaVu Sans"/>
              </a:rPr>
              <a:t>HACKATHON MILA · SÉCURITÉ IA &amp; SANTÉ MENTALE DES JEUNES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720000" y="1260000"/>
            <a:ext cx="1097028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2f2f2"/>
                </a:solidFill>
                <a:latin typeface="Calibri"/>
                <a:ea typeface="DejaVu Sans"/>
              </a:rPr>
              <a:t>Garde-fou d'entrée hybride</a:t>
            </a:r>
            <a:endParaRPr b="0" lang="fr-CA" sz="48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900000" y="2880000"/>
            <a:ext cx="1097028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5ec8ff"/>
                </a:solidFill>
                <a:latin typeface="Calibri"/>
                <a:ea typeface="DejaVu Sans"/>
              </a:rPr>
              <a:t>Construire un garde-fou (input guardrail) qui classe chaque message utilisateur en </a:t>
            </a:r>
            <a:r>
              <a:rPr b="1" lang="en-US" sz="1400" spc="-1" strike="noStrike">
                <a:solidFill>
                  <a:srgbClr val="6be0a5"/>
                </a:solidFill>
                <a:latin typeface="Consolas"/>
                <a:ea typeface="DejaVu Sans"/>
              </a:rPr>
              <a:t>low_risk</a:t>
            </a:r>
            <a:r>
              <a:rPr b="0" lang="en-US" sz="2200" spc="-1" strike="noStrike">
                <a:solidFill>
                  <a:srgbClr val="5ec8ff"/>
                </a:solidFill>
                <a:latin typeface="Calibri"/>
                <a:ea typeface="DejaVu Sans"/>
              </a:rPr>
              <a:t> vs </a:t>
            </a:r>
            <a:r>
              <a:rPr b="1" lang="en-US" sz="1400" spc="-1" strike="noStrike">
                <a:solidFill>
                  <a:srgbClr val="ff7a7a"/>
                </a:solidFill>
                <a:latin typeface="Consolas"/>
                <a:ea typeface="DejaVu Sans"/>
              </a:rPr>
              <a:t>high_risk</a:t>
            </a:r>
            <a:r>
              <a:rPr b="0" lang="en-US" sz="2200" spc="-1" strike="noStrike">
                <a:solidFill>
                  <a:srgbClr val="5ec8ff"/>
                </a:solidFill>
                <a:latin typeface="Calibri"/>
                <a:ea typeface="DejaVu Sans"/>
              </a:rPr>
              <a:t> avant qu'il n'atteigne le LLM conversationnel</a:t>
            </a:r>
            <a:endParaRPr b="0" lang="fr-CA" sz="22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907560" y="5150520"/>
            <a:ext cx="109702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 · 404HarmNotFound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907560" y="4860000"/>
            <a:ext cx="109702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6be0a5"/>
                </a:solidFill>
                <a:latin typeface="Consolas"/>
                <a:ea typeface="DejaVu Sans"/>
              </a:rPr>
              <a:t>F1 = 0,876  ·  Précision = 0,833  ·  Rappel = 0,923</a:t>
            </a:r>
            <a:endParaRPr b="0" lang="fr-CA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02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457200" y="502920"/>
            <a:ext cx="1097028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Problème · Garde-fou d'entrée pour KHP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49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51" name="Rounded Rectangle 5"/>
          <p:cNvSpPr/>
          <p:nvPr/>
        </p:nvSpPr>
        <p:spPr>
          <a:xfrm>
            <a:off x="457200" y="1280160"/>
            <a:ext cx="557532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TextBox 6"/>
          <p:cNvSpPr/>
          <p:nvPr/>
        </p:nvSpPr>
        <p:spPr>
          <a:xfrm>
            <a:off x="731520" y="1463040"/>
            <a:ext cx="50266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5ec8ff"/>
                </a:solidFill>
                <a:latin typeface="Calibri"/>
                <a:ea typeface="DejaVu Sans"/>
              </a:rPr>
              <a:t>Tâche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53" name="TextBox 7"/>
          <p:cNvSpPr/>
          <p:nvPr/>
        </p:nvSpPr>
        <p:spPr>
          <a:xfrm>
            <a:off x="731520" y="1920240"/>
            <a:ext cx="530100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Classifieur binaire pré-LLM sur l'entrée</a:t>
            </a: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Classes : </a:t>
            </a:r>
            <a:r>
              <a:rPr b="1" lang="en-US" sz="1400" spc="-1" strike="noStrike">
                <a:solidFill>
                  <a:srgbClr val="6be0a5"/>
                </a:solidFill>
                <a:latin typeface="Consolas"/>
                <a:ea typeface="DejaVu Sans"/>
              </a:rPr>
              <a:t>low_risk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 vs </a:t>
            </a:r>
            <a:r>
              <a:rPr b="1" lang="en-US" sz="1400" spc="-1" strike="noStrike">
                <a:solidFill>
                  <a:srgbClr val="ff7a7a"/>
                </a:solidFill>
                <a:latin typeface="Consolas"/>
                <a:ea typeface="DejaVu Sans"/>
              </a:rPr>
              <a:t>high_risk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Point d'entrée : get_guardrails()</a:t>
            </a: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  →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(input, None)</a:t>
            </a: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S'exécute avant chaque message vers</a:t>
            </a: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 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l'assistant KHP (gate synchrone)</a:t>
            </a: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EN / FR / français québécois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54" name="Rounded Rectangle 8"/>
          <p:cNvSpPr/>
          <p:nvPr/>
        </p:nvSpPr>
        <p:spPr>
          <a:xfrm>
            <a:off x="6217920" y="1280160"/>
            <a:ext cx="557532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TextBox 9"/>
          <p:cNvSpPr/>
          <p:nvPr/>
        </p:nvSpPr>
        <p:spPr>
          <a:xfrm>
            <a:off x="6492240" y="1463040"/>
            <a:ext cx="50266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b86b"/>
                </a:solidFill>
                <a:latin typeface="Calibri"/>
                <a:ea typeface="DejaVu Sans"/>
              </a:rPr>
              <a:t>But (Modèle de coût à éviter)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492240" y="1920240"/>
            <a:ext cx="5301000" cy="27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FN  =  crise manquée → jeune en danger</a:t>
            </a: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non escaladé vers intervenant</a:t>
            </a: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FP  =  message normal marqué à risque</a:t>
            </a: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        →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friction, perte de confiance</a:t>
            </a: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⇒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on optimise le rappel d'abord,</a:t>
            </a: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puis la précision (F1 comme compromis)</a:t>
            </a: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FN: False negative</a:t>
            </a:r>
            <a:endParaRPr b="0" lang="fr-CA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FP:  </a:t>
            </a:r>
            <a:r>
              <a:rPr b="0" lang="en-US" sz="1600" spc="-1" strike="noStrike">
                <a:solidFill>
                  <a:srgbClr val="f2f2f2"/>
                </a:solidFill>
                <a:latin typeface="Calibri"/>
                <a:ea typeface="DejaVu Sans"/>
              </a:rPr>
              <a:t>False positive</a:t>
            </a:r>
            <a:endParaRPr b="0" lang="fr-CA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03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457200" y="502920"/>
            <a:ext cx="1097028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Architecture · Fusion hybride + override règle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59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61" name="Rounded Rectangle 5"/>
          <p:cNvSpPr/>
          <p:nvPr/>
        </p:nvSpPr>
        <p:spPr>
          <a:xfrm>
            <a:off x="457200" y="1280160"/>
            <a:ext cx="1124460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Rounded Rectangle 6"/>
          <p:cNvSpPr/>
          <p:nvPr/>
        </p:nvSpPr>
        <p:spPr>
          <a:xfrm>
            <a:off x="731520" y="1554480"/>
            <a:ext cx="3289320" cy="200916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>
            <a:solidFill>
              <a:srgbClr val="5ec8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TextBox 7"/>
          <p:cNvSpPr/>
          <p:nvPr/>
        </p:nvSpPr>
        <p:spPr>
          <a:xfrm>
            <a:off x="914400" y="1645920"/>
            <a:ext cx="3015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ec8ff"/>
                </a:solidFill>
                <a:latin typeface="Consolas"/>
                <a:ea typeface="DejaVu Sans"/>
              </a:rPr>
              <a:t>Encodeur Classifieur mmBERT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914400" y="2011680"/>
            <a:ext cx="3015000" cy="14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jhu-clsp/mmBERT-base 2025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fine-tuné binaire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max_length = 512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~ 20 ms  (A40)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→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score_bert ∈ [0,1]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Transformer 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“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Attention Is All You Need” 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65" name="Rounded Rectangle 9"/>
          <p:cNvSpPr/>
          <p:nvPr/>
        </p:nvSpPr>
        <p:spPr>
          <a:xfrm>
            <a:off x="4297680" y="1554480"/>
            <a:ext cx="3289320" cy="200916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>
            <a:solidFill>
              <a:srgbClr val="5ec8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TextBox 10"/>
          <p:cNvSpPr/>
          <p:nvPr/>
        </p:nvSpPr>
        <p:spPr>
          <a:xfrm>
            <a:off x="4480560" y="1645920"/>
            <a:ext cx="3015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ec8ff"/>
                </a:solidFill>
                <a:latin typeface="Consolas"/>
                <a:ea typeface="DejaVu Sans"/>
              </a:rPr>
              <a:t>Juge LLM Mistral &amp; prompt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67" name="TextBox 11"/>
          <p:cNvSpPr/>
          <p:nvPr/>
        </p:nvSpPr>
        <p:spPr>
          <a:xfrm>
            <a:off x="4480560" y="2011680"/>
            <a:ext cx="3015000" cy="10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Mistral-Large-3-675B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temperature = 0.0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max_tokens = 256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sortie JSON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→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score_llm ∈ [0,1]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68" name="Rounded Rectangle 12"/>
          <p:cNvSpPr/>
          <p:nvPr/>
        </p:nvSpPr>
        <p:spPr>
          <a:xfrm>
            <a:off x="7863840" y="1554480"/>
            <a:ext cx="3655080" cy="200916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>
            <a:solidFill>
              <a:srgbClr val="ffb8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13"/>
          <p:cNvSpPr/>
          <p:nvPr/>
        </p:nvSpPr>
        <p:spPr>
          <a:xfrm>
            <a:off x="8046720" y="1645920"/>
            <a:ext cx="32893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b86b"/>
                </a:solidFill>
                <a:latin typeface="Consolas"/>
                <a:ea typeface="DejaVu Sans"/>
              </a:rPr>
              <a:t>Gate 12 · override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70" name="TextBox 14"/>
          <p:cNvSpPr/>
          <p:nvPr/>
        </p:nvSpPr>
        <p:spPr>
          <a:xfrm>
            <a:off x="8046720" y="2011680"/>
            <a:ext cx="3289320" cy="8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METHOD_TERMS ∪ (EN, FR)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pills · rope · pont · corde ...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si terme ET fused &gt; 0,15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→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FAIL  (bypass du seuil)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71" name="Rounded Rectangle 15"/>
          <p:cNvSpPr/>
          <p:nvPr/>
        </p:nvSpPr>
        <p:spPr>
          <a:xfrm>
            <a:off x="1828800" y="3840480"/>
            <a:ext cx="8501400" cy="91188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>
            <a:solidFill>
              <a:srgbClr val="6be0a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TextBox 16"/>
          <p:cNvSpPr/>
          <p:nvPr/>
        </p:nvSpPr>
        <p:spPr>
          <a:xfrm>
            <a:off x="2011680" y="3977640"/>
            <a:ext cx="822708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6be0a5"/>
                </a:solidFill>
                <a:latin typeface="Consolas"/>
                <a:ea typeface="DejaVu Sans"/>
              </a:rPr>
              <a:t>score_fusion  =  0,4 · score_bert  +  0,6 · score_llm</a:t>
            </a:r>
            <a:endParaRPr b="0" lang="fr-CA" sz="2200" spc="-1" strike="noStrike">
              <a:latin typeface="Arial"/>
            </a:endParaRPr>
          </a:p>
        </p:txBody>
      </p:sp>
      <p:sp>
        <p:nvSpPr>
          <p:cNvPr id="73" name="Rounded Rectangle 17"/>
          <p:cNvSpPr/>
          <p:nvPr/>
        </p:nvSpPr>
        <p:spPr>
          <a:xfrm>
            <a:off x="1828800" y="4983480"/>
            <a:ext cx="4020840" cy="118620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>
            <a:solidFill>
              <a:srgbClr val="6be0a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TextBox 18"/>
          <p:cNvSpPr/>
          <p:nvPr/>
        </p:nvSpPr>
        <p:spPr>
          <a:xfrm>
            <a:off x="1965960" y="5074920"/>
            <a:ext cx="3746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6be0a5"/>
                </a:solidFill>
                <a:latin typeface="Consolas"/>
                <a:ea typeface="DejaVu Sans"/>
              </a:rPr>
              <a:t>PASS · low_risk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75" name="TextBox 19"/>
          <p:cNvSpPr/>
          <p:nvPr/>
        </p:nvSpPr>
        <p:spPr>
          <a:xfrm>
            <a:off x="1965960" y="5440680"/>
            <a:ext cx="374652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score_fusion &lt; 0,50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et pas de Gate 12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76" name="Rounded Rectangle 20"/>
          <p:cNvSpPr/>
          <p:nvPr/>
        </p:nvSpPr>
        <p:spPr>
          <a:xfrm>
            <a:off x="6309360" y="4983480"/>
            <a:ext cx="4020840" cy="118620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>
            <a:solidFill>
              <a:srgbClr val="ff7a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21"/>
          <p:cNvSpPr/>
          <p:nvPr/>
        </p:nvSpPr>
        <p:spPr>
          <a:xfrm>
            <a:off x="6446520" y="5074920"/>
            <a:ext cx="3746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7a7a"/>
                </a:solidFill>
                <a:latin typeface="Consolas"/>
                <a:ea typeface="DejaVu Sans"/>
              </a:rPr>
              <a:t>FAIL · high_risk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78" name="TextBox 22"/>
          <p:cNvSpPr/>
          <p:nvPr/>
        </p:nvSpPr>
        <p:spPr>
          <a:xfrm>
            <a:off x="6446520" y="5440680"/>
            <a:ext cx="374652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score_fusion ≥ 0,50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ou Gate 12 → escalade</a:t>
            </a:r>
            <a:endParaRPr b="0" lang="fr-CA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09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457200" y="502920"/>
            <a:ext cx="1097028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Logique de fusion · score pondéré + override clinique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81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83" name="Rounded Rectangle 5"/>
          <p:cNvSpPr/>
          <p:nvPr/>
        </p:nvSpPr>
        <p:spPr>
          <a:xfrm>
            <a:off x="457200" y="1280160"/>
            <a:ext cx="1124460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Rounded Rectangle 6"/>
          <p:cNvSpPr/>
          <p:nvPr/>
        </p:nvSpPr>
        <p:spPr>
          <a:xfrm>
            <a:off x="731520" y="1554480"/>
            <a:ext cx="10695960" cy="118620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TextBox 7"/>
          <p:cNvSpPr/>
          <p:nvPr/>
        </p:nvSpPr>
        <p:spPr>
          <a:xfrm>
            <a:off x="914400" y="1691640"/>
            <a:ext cx="103302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Étape 1 · fusion tardive pondérée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914400" y="2057400"/>
            <a:ext cx="1033020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2f2f2"/>
                </a:solidFill>
                <a:latin typeface="Consolas"/>
                <a:ea typeface="DejaVu Sans"/>
              </a:rPr>
              <a:t>fused  =  0,4 · score_bert  +  0,6 · score_llm</a:t>
            </a:r>
            <a:endParaRPr b="0" lang="fr-CA" sz="2200" spc="-1" strike="noStrike">
              <a:latin typeface="Arial"/>
            </a:endParaRPr>
          </a:p>
        </p:txBody>
      </p:sp>
      <p:sp>
        <p:nvSpPr>
          <p:cNvPr id="87" name="Rounded Rectangle 9"/>
          <p:cNvSpPr/>
          <p:nvPr/>
        </p:nvSpPr>
        <p:spPr>
          <a:xfrm>
            <a:off x="731520" y="2880360"/>
            <a:ext cx="10695960" cy="155196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TextBox 10"/>
          <p:cNvSpPr/>
          <p:nvPr/>
        </p:nvSpPr>
        <p:spPr>
          <a:xfrm>
            <a:off x="914400" y="3017520"/>
            <a:ext cx="103302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b86b"/>
                </a:solidFill>
                <a:latin typeface="Calibri"/>
                <a:ea typeface="DejaVu Sans"/>
              </a:rPr>
              <a:t>Étape 2 · override Gate 12  (filet de sécurité règle)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914400" y="3383280"/>
            <a:ext cx="10330200" cy="8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METHOD_TERMS = { pills, overdose, bridge, rope, hanging, knife, razor, gun,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           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poison, bleach, train tracks, pilules, surdose, pont, corde,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           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pendaison, couteau, rasoir, fusil, somniferes, … }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si  any(term in text)  ET  fused &gt; 0,15   →   FAIL   (bypass du seuil 0,50)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90" name="Rounded Rectangle 12"/>
          <p:cNvSpPr/>
          <p:nvPr/>
        </p:nvSpPr>
        <p:spPr>
          <a:xfrm>
            <a:off x="731520" y="4572000"/>
            <a:ext cx="10695960" cy="173484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TextBox 13"/>
          <p:cNvSpPr/>
          <p:nvPr/>
        </p:nvSpPr>
        <p:spPr>
          <a:xfrm>
            <a:off x="914400" y="4709160"/>
            <a:ext cx="103302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6be0a5"/>
                </a:solidFill>
                <a:latin typeface="Calibri"/>
                <a:ea typeface="DejaVu Sans"/>
              </a:rPr>
              <a:t>Étape 3 · décision finale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92" name="TextBox 14"/>
          <p:cNvSpPr/>
          <p:nvPr/>
        </p:nvSpPr>
        <p:spPr>
          <a:xfrm>
            <a:off x="914400" y="5074920"/>
            <a:ext cx="1033020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onsolas"/>
                <a:ea typeface="DejaVu Sans"/>
              </a:rPr>
              <a:t>if Gate 12 &amp; fused &gt;=15: FAIL   (high_risk)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onsolas"/>
                <a:ea typeface="DejaVu Sans"/>
              </a:rPr>
              <a:t>elif fused &gt;= 0.50:      FAIL   (high_risk)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onsolas"/>
                <a:ea typeface="DejaVu Sans"/>
              </a:rPr>
              <a:t>else:                    PASS   (low_risk)</a:t>
            </a:r>
            <a:endParaRPr b="0" lang="fr-CA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280;p4"/>
          <p:cNvSpPr/>
          <p:nvPr/>
        </p:nvSpPr>
        <p:spPr>
          <a:xfrm>
            <a:off x="2513160" y="3439440"/>
            <a:ext cx="1852560" cy="750600"/>
          </a:xfrm>
          <a:prstGeom prst="roundRect">
            <a:avLst>
              <a:gd name="adj" fmla="val 10909"/>
            </a:avLst>
          </a:prstGeom>
          <a:solidFill>
            <a:srgbClr val="0a0c12"/>
          </a:solidFill>
          <a:ln w="15875">
            <a:solidFill>
              <a:srgbClr val="5e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960" rIns="102960" tIns="102960" bIns="1029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ec8ff"/>
                </a:solidFill>
                <a:latin typeface="Consolas"/>
                <a:ea typeface="Montserrat"/>
              </a:rPr>
              <a:t>40%</a:t>
            </a:r>
            <a:endParaRPr b="0" lang="fr-CA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ec8ff"/>
                </a:solidFill>
                <a:latin typeface="Consolas"/>
                <a:ea typeface="Montserrat"/>
              </a:rPr>
              <a:t>score mbert (0-1)</a:t>
            </a:r>
            <a:endParaRPr b="0" lang="fr-CA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ec8ff"/>
                </a:solidFill>
                <a:latin typeface="Consolas"/>
                <a:ea typeface="Montserrat"/>
              </a:rPr>
              <a:t>mBERT Classifier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94" name="Google Shape;281;p4"/>
          <p:cNvSpPr/>
          <p:nvPr/>
        </p:nvSpPr>
        <p:spPr>
          <a:xfrm>
            <a:off x="2504880" y="4316760"/>
            <a:ext cx="1868760" cy="661680"/>
          </a:xfrm>
          <a:prstGeom prst="roundRect">
            <a:avLst>
              <a:gd name="adj" fmla="val 10909"/>
            </a:avLst>
          </a:prstGeom>
          <a:solidFill>
            <a:srgbClr val="0a0c12"/>
          </a:solidFill>
          <a:ln w="15875">
            <a:solidFill>
              <a:srgbClr val="5e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960" rIns="102960" tIns="102960" bIns="1029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ec8ff"/>
                </a:solidFill>
                <a:latin typeface="Consolas"/>
                <a:ea typeface="Montserrat"/>
              </a:rPr>
              <a:t>60%</a:t>
            </a:r>
            <a:endParaRPr b="0" lang="fr-CA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ec8ff"/>
                </a:solidFill>
                <a:latin typeface="Consolas"/>
                <a:ea typeface="Montserrat"/>
              </a:rPr>
              <a:t>score llm (0-1)</a:t>
            </a:r>
            <a:endParaRPr b="0" lang="fr-CA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ec8ff"/>
                </a:solidFill>
                <a:latin typeface="Consolas"/>
                <a:ea typeface="Montserrat"/>
              </a:rPr>
              <a:t>Mistral LLM Judge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95" name="Google Shape;282;p4"/>
          <p:cNvSpPr/>
          <p:nvPr/>
        </p:nvSpPr>
        <p:spPr>
          <a:xfrm>
            <a:off x="360000" y="3636000"/>
            <a:ext cx="1415880" cy="1271880"/>
          </a:xfrm>
          <a:prstGeom prst="roundRect">
            <a:avLst>
              <a:gd name="adj" fmla="val 14768"/>
            </a:avLst>
          </a:prstGeom>
          <a:solidFill>
            <a:srgbClr val="1a1f2e"/>
          </a:solidFill>
          <a:ln w="9525">
            <a:solidFill>
              <a:srgbClr val="9aa3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0920" rIns="70920" tIns="70920" bIns="7092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2f2f2"/>
                </a:solidFill>
                <a:latin typeface="Calibri"/>
                <a:ea typeface="Montserrat"/>
              </a:rPr>
              <a:t>Youth message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96" name="Google Shape;283;p4"/>
          <p:cNvSpPr/>
          <p:nvPr/>
        </p:nvSpPr>
        <p:spPr>
          <a:xfrm>
            <a:off x="5103000" y="3804840"/>
            <a:ext cx="1852560" cy="1059480"/>
          </a:xfrm>
          <a:prstGeom prst="roundRect">
            <a:avLst>
              <a:gd name="adj" fmla="val 14768"/>
            </a:avLst>
          </a:prstGeom>
          <a:solidFill>
            <a:srgbClr val="0a0c12"/>
          </a:solidFill>
          <a:ln w="15875">
            <a:solidFill>
              <a:srgbClr val="6be0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0920" rIns="70920" tIns="70920" bIns="7092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6be0a5"/>
                </a:solidFill>
                <a:latin typeface="Consolas"/>
                <a:ea typeface="Montserrat"/>
              </a:rPr>
              <a:t>Weighted fusion</a:t>
            </a:r>
            <a:br>
              <a:rPr sz="1090"/>
            </a:br>
            <a:r>
              <a:rPr b="1" lang="en-US" sz="1100" spc="-1" strike="noStrike">
                <a:solidFill>
                  <a:srgbClr val="6be0a5"/>
                </a:solidFill>
                <a:latin typeface="Consolas"/>
                <a:ea typeface="Montserrat"/>
              </a:rPr>
              <a:t>=</a:t>
            </a:r>
            <a:br>
              <a:rPr sz="1090"/>
            </a:br>
            <a:r>
              <a:rPr b="1" lang="en-US" sz="1100" spc="-1" strike="noStrike">
                <a:solidFill>
                  <a:srgbClr val="6be0a5"/>
                </a:solidFill>
                <a:latin typeface="Consolas"/>
                <a:ea typeface="Montserrat"/>
              </a:rPr>
              <a:t>0.4 * score_mbert + 0.6 * score_llm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97" name="Google Shape;284;p4"/>
          <p:cNvSpPr/>
          <p:nvPr/>
        </p:nvSpPr>
        <p:spPr>
          <a:xfrm>
            <a:off x="7714440" y="2277720"/>
            <a:ext cx="1606680" cy="1271880"/>
          </a:xfrm>
          <a:prstGeom prst="diamond">
            <a:avLst/>
          </a:prstGeom>
          <a:solidFill>
            <a:srgbClr val="0a0c12"/>
          </a:solidFill>
          <a:ln w="15875">
            <a:solidFill>
              <a:srgbClr val="ffb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7080" rIns="127080" tIns="127080" bIns="1270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b86b"/>
                </a:solidFill>
                <a:latin typeface="Consolas"/>
                <a:ea typeface="Montserrat"/>
              </a:rPr>
              <a:t>Gate 12</a:t>
            </a:r>
            <a:endParaRPr b="0" lang="fr-CA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b86b"/>
                </a:solidFill>
                <a:latin typeface="Consolas"/>
                <a:ea typeface="Montserrat"/>
              </a:rPr>
              <a:t>method/</a:t>
            </a:r>
            <a:br>
              <a:rPr sz="839.9999"/>
            </a:br>
            <a:r>
              <a:rPr b="1" lang="en-US" sz="1000" spc="-1" strike="noStrike">
                <a:solidFill>
                  <a:srgbClr val="ffb86b"/>
                </a:solidFill>
                <a:latin typeface="Consolas"/>
                <a:ea typeface="Montserrat"/>
              </a:rPr>
              <a:t>means terms detecte?&amp;F&gt;.15 </a:t>
            </a:r>
            <a:endParaRPr b="0" lang="fr-CA" sz="1000" spc="-1" strike="noStrike">
              <a:latin typeface="Arial"/>
            </a:endParaRPr>
          </a:p>
        </p:txBody>
      </p:sp>
      <p:sp>
        <p:nvSpPr>
          <p:cNvPr id="98" name="Google Shape;285;p4"/>
          <p:cNvSpPr/>
          <p:nvPr/>
        </p:nvSpPr>
        <p:spPr>
          <a:xfrm>
            <a:off x="10257120" y="3847680"/>
            <a:ext cx="1744560" cy="974160"/>
          </a:xfrm>
          <a:prstGeom prst="roundRect">
            <a:avLst>
              <a:gd name="adj" fmla="val 10325"/>
            </a:avLst>
          </a:prstGeom>
          <a:solidFill>
            <a:srgbClr val="6be0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108000" bIns="108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a0c12"/>
                </a:solidFill>
                <a:latin typeface="Calibri"/>
                <a:ea typeface="Montserrat"/>
              </a:rPr>
              <a:t>PASS (low_risk)</a:t>
            </a:r>
            <a:endParaRPr b="0" lang="fr-CA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a0c12"/>
                </a:solidFill>
                <a:latin typeface="Calibri"/>
                <a:ea typeface="Montserrat"/>
              </a:rPr>
              <a:t>Continue guided conversation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99" name="Google Shape;286;p4"/>
          <p:cNvSpPr/>
          <p:nvPr/>
        </p:nvSpPr>
        <p:spPr>
          <a:xfrm>
            <a:off x="10257120" y="2659320"/>
            <a:ext cx="1744560" cy="974160"/>
          </a:xfrm>
          <a:prstGeom prst="roundRect">
            <a:avLst>
              <a:gd name="adj" fmla="val 10325"/>
            </a:avLst>
          </a:prstGeom>
          <a:solidFill>
            <a:srgbClr val="ff7a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108000" bIns="108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a0c12"/>
                </a:solidFill>
                <a:latin typeface="Calibri"/>
                <a:ea typeface="Montserrat"/>
              </a:rPr>
              <a:t>FAIL (high_risk)</a:t>
            </a:r>
            <a:endParaRPr b="0" lang="fr-CA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a0c12"/>
                </a:solidFill>
                <a:latin typeface="Calibri"/>
                <a:ea typeface="Montserrat"/>
              </a:rPr>
              <a:t>Escalate to human 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100" name="Google Shape;287;p4"/>
          <p:cNvSpPr/>
          <p:nvPr/>
        </p:nvSpPr>
        <p:spPr>
          <a:xfrm flipH="1" rot="10800000">
            <a:off x="6958440" y="2917080"/>
            <a:ext cx="753840" cy="1418760"/>
          </a:xfrm>
          <a:prstGeom prst="bentConnector3">
            <a:avLst>
              <a:gd name="adj1" fmla="val 49999"/>
            </a:avLst>
          </a:prstGeom>
          <a:noFill/>
          <a:ln w="13250">
            <a:solidFill>
              <a:srgbClr val="9aa3b2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Google Shape;288;p4"/>
          <p:cNvSpPr/>
          <p:nvPr/>
        </p:nvSpPr>
        <p:spPr>
          <a:xfrm>
            <a:off x="7684560" y="4160520"/>
            <a:ext cx="1666080" cy="974160"/>
          </a:xfrm>
          <a:prstGeom prst="diamond">
            <a:avLst/>
          </a:prstGeom>
          <a:solidFill>
            <a:srgbClr val="0a0c12"/>
          </a:solidFill>
          <a:ln w="15875">
            <a:solidFill>
              <a:srgbClr val="5e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7080" rIns="127080" tIns="487440" bIns="487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2f2f2"/>
                </a:solidFill>
                <a:latin typeface="Consolas"/>
                <a:ea typeface="Montserrat"/>
              </a:rPr>
              <a:t>Fused_score </a:t>
            </a:r>
            <a:br>
              <a:rPr sz="1110"/>
            </a:br>
            <a:r>
              <a:rPr b="1" lang="en-US" sz="1100" spc="-1" strike="noStrike">
                <a:solidFill>
                  <a:srgbClr val="f2f2f2"/>
                </a:solidFill>
                <a:latin typeface="Consolas"/>
                <a:ea typeface="Montserrat"/>
              </a:rPr>
              <a:t>&gt;= 0.50?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02" name="Google Shape;289;p4"/>
          <p:cNvSpPr/>
          <p:nvPr/>
        </p:nvSpPr>
        <p:spPr>
          <a:xfrm flipH="1" rot="10800000">
            <a:off x="1778400" y="3818160"/>
            <a:ext cx="731880" cy="455040"/>
          </a:xfrm>
          <a:prstGeom prst="bentConnector3">
            <a:avLst>
              <a:gd name="adj1" fmla="val 50000"/>
            </a:avLst>
          </a:prstGeom>
          <a:noFill/>
          <a:ln w="13250">
            <a:solidFill>
              <a:srgbClr val="9aa3b2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Google Shape;290;p4"/>
          <p:cNvSpPr/>
          <p:nvPr/>
        </p:nvSpPr>
        <p:spPr>
          <a:xfrm>
            <a:off x="1778400" y="4273200"/>
            <a:ext cx="723960" cy="372960"/>
          </a:xfrm>
          <a:prstGeom prst="bentConnector3">
            <a:avLst>
              <a:gd name="adj1" fmla="val 49997"/>
            </a:avLst>
          </a:prstGeom>
          <a:noFill/>
          <a:ln w="13250">
            <a:solidFill>
              <a:srgbClr val="9aa3b2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Google Shape;291;p4"/>
          <p:cNvSpPr/>
          <p:nvPr/>
        </p:nvSpPr>
        <p:spPr>
          <a:xfrm>
            <a:off x="4368240" y="3816000"/>
            <a:ext cx="732240" cy="517680"/>
          </a:xfrm>
          <a:prstGeom prst="bentConnector3">
            <a:avLst>
              <a:gd name="adj1" fmla="val 49996"/>
            </a:avLst>
          </a:prstGeom>
          <a:noFill/>
          <a:ln w="13250">
            <a:solidFill>
              <a:srgbClr val="9aa3b2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Google Shape;292;p4"/>
          <p:cNvSpPr/>
          <p:nvPr/>
        </p:nvSpPr>
        <p:spPr>
          <a:xfrm flipH="1" rot="10800000">
            <a:off x="4376160" y="4338360"/>
            <a:ext cx="723960" cy="310320"/>
          </a:xfrm>
          <a:prstGeom prst="bentConnector3">
            <a:avLst>
              <a:gd name="adj1" fmla="val 50000"/>
            </a:avLst>
          </a:prstGeom>
          <a:noFill/>
          <a:ln w="13250">
            <a:solidFill>
              <a:srgbClr val="9aa3b2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Google Shape;293;p4"/>
          <p:cNvSpPr/>
          <p:nvPr/>
        </p:nvSpPr>
        <p:spPr>
          <a:xfrm flipH="1" rot="16200000">
            <a:off x="8211600" y="3854880"/>
            <a:ext cx="605880" cy="360"/>
          </a:xfrm>
          <a:prstGeom prst="bentConnector3">
            <a:avLst>
              <a:gd name="adj1" fmla="val 49999"/>
            </a:avLst>
          </a:prstGeom>
          <a:noFill/>
          <a:ln w="13250">
            <a:solidFill>
              <a:srgbClr val="9aa3b2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Google Shape;294;p4"/>
          <p:cNvSpPr/>
          <p:nvPr/>
        </p:nvSpPr>
        <p:spPr>
          <a:xfrm flipH="1" rot="10800000">
            <a:off x="9352800" y="3150360"/>
            <a:ext cx="901080" cy="1498320"/>
          </a:xfrm>
          <a:prstGeom prst="bentConnector3">
            <a:avLst>
              <a:gd name="adj1" fmla="val 50007"/>
            </a:avLst>
          </a:prstGeom>
          <a:noFill/>
          <a:ln w="13250">
            <a:solidFill>
              <a:srgbClr val="9aa3b2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Google Shape;295;p4"/>
          <p:cNvSpPr/>
          <p:nvPr/>
        </p:nvSpPr>
        <p:spPr>
          <a:xfrm>
            <a:off x="9323640" y="2914920"/>
            <a:ext cx="930960" cy="230760"/>
          </a:xfrm>
          <a:prstGeom prst="bentConnector3">
            <a:avLst>
              <a:gd name="adj1" fmla="val 50007"/>
            </a:avLst>
          </a:prstGeom>
          <a:noFill/>
          <a:ln w="13250">
            <a:solidFill>
              <a:srgbClr val="9aa3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Google Shape;296;p4"/>
          <p:cNvSpPr/>
          <p:nvPr/>
        </p:nvSpPr>
        <p:spPr>
          <a:xfrm rot="16200000">
            <a:off x="9668160" y="3677400"/>
            <a:ext cx="310320" cy="2608920"/>
          </a:xfrm>
          <a:prstGeom prst="bentConnector3">
            <a:avLst>
              <a:gd name="adj1" fmla="val -76103"/>
            </a:avLst>
          </a:prstGeom>
          <a:noFill/>
          <a:ln w="13250">
            <a:solidFill>
              <a:srgbClr val="9aa3b2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Google Shape;297;p4"/>
          <p:cNvSpPr/>
          <p:nvPr/>
        </p:nvSpPr>
        <p:spPr>
          <a:xfrm>
            <a:off x="9323640" y="2573280"/>
            <a:ext cx="45252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5680" bIns="175680" anchor="t">
            <a:sp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9aa3b2"/>
                </a:solidFill>
                <a:latin typeface="Consolas"/>
                <a:ea typeface="Inter"/>
              </a:rPr>
              <a:t>Yes</a:t>
            </a:r>
            <a:endParaRPr b="0" lang="fr-CA" sz="1000" spc="-1" strike="noStrike">
              <a:latin typeface="Arial"/>
            </a:endParaRPr>
          </a:p>
        </p:txBody>
      </p:sp>
      <p:sp>
        <p:nvSpPr>
          <p:cNvPr id="111" name="Google Shape;298;p4"/>
          <p:cNvSpPr/>
          <p:nvPr/>
        </p:nvSpPr>
        <p:spPr>
          <a:xfrm>
            <a:off x="9323640" y="4307040"/>
            <a:ext cx="45252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5680" bIns="175680" anchor="t">
            <a:sp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9aa3b2"/>
                </a:solidFill>
                <a:latin typeface="Consolas"/>
                <a:ea typeface="Inter"/>
              </a:rPr>
              <a:t>Yes</a:t>
            </a:r>
            <a:endParaRPr b="0" lang="fr-CA" sz="1000" spc="-1" strike="noStrike">
              <a:latin typeface="Arial"/>
            </a:endParaRPr>
          </a:p>
        </p:txBody>
      </p:sp>
      <p:sp>
        <p:nvSpPr>
          <p:cNvPr id="112" name="Google Shape;299;p4"/>
          <p:cNvSpPr/>
          <p:nvPr/>
        </p:nvSpPr>
        <p:spPr>
          <a:xfrm>
            <a:off x="9323640" y="5120280"/>
            <a:ext cx="45252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5680" bIns="175680" anchor="t">
            <a:sp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9aa3b2"/>
                </a:solidFill>
                <a:latin typeface="Consolas"/>
                <a:ea typeface="Inter"/>
              </a:rPr>
              <a:t>No</a:t>
            </a:r>
            <a:endParaRPr b="0" lang="fr-CA" sz="1000" spc="-1" strike="noStrike">
              <a:latin typeface="Arial"/>
            </a:endParaRPr>
          </a:p>
        </p:txBody>
      </p:sp>
      <p:sp>
        <p:nvSpPr>
          <p:cNvPr id="113" name="TextBox 98"/>
          <p:cNvSpPr/>
          <p:nvPr/>
        </p:nvSpPr>
        <p:spPr>
          <a:xfrm>
            <a:off x="987480" y="320040"/>
            <a:ext cx="7664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04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14" name="TextBox 99"/>
          <p:cNvSpPr/>
          <p:nvPr/>
        </p:nvSpPr>
        <p:spPr>
          <a:xfrm>
            <a:off x="2618280" y="502920"/>
            <a:ext cx="6653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2800" spc="-1" strike="noStrike">
                <a:solidFill>
                  <a:srgbClr val="f2f2f2"/>
                </a:solidFill>
                <a:latin typeface="Arial"/>
                <a:ea typeface="DejaVu Sans"/>
              </a:rPr>
              <a:t>Logique d’exécution · Flux du pipeline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115" name="Rectangle 100"/>
          <p:cNvSpPr/>
          <p:nvPr/>
        </p:nvSpPr>
        <p:spPr>
          <a:xfrm>
            <a:off x="457200" y="960120"/>
            <a:ext cx="546480" cy="5256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TextBox 101"/>
          <p:cNvSpPr/>
          <p:nvPr/>
        </p:nvSpPr>
        <p:spPr>
          <a:xfrm>
            <a:off x="10554480" y="320040"/>
            <a:ext cx="1017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05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457200" y="502920"/>
            <a:ext cx="1097028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mmBERT · l'encodeur de base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119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21" name="Rounded Rectangle 5"/>
          <p:cNvSpPr/>
          <p:nvPr/>
        </p:nvSpPr>
        <p:spPr>
          <a:xfrm>
            <a:off x="457200" y="1260000"/>
            <a:ext cx="5575320" cy="540000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TextBox 6"/>
          <p:cNvSpPr/>
          <p:nvPr/>
        </p:nvSpPr>
        <p:spPr>
          <a:xfrm>
            <a:off x="731520" y="1463040"/>
            <a:ext cx="50266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5ec8ff"/>
                </a:solidFill>
                <a:latin typeface="Consolas"/>
                <a:ea typeface="DejaVu Sans"/>
              </a:rPr>
              <a:t>jhu-clsp / mmBERT-base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123" name="TextBox 7"/>
          <p:cNvSpPr/>
          <p:nvPr/>
        </p:nvSpPr>
        <p:spPr>
          <a:xfrm>
            <a:off x="731520" y="1799640"/>
            <a:ext cx="5301000" cy="48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ModernBERT multilingue 140M par (JHU CLSP, 2025)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Embeddings positionnels RoPE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Feed-forward GeGLU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Attention locale/globale alternée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Flash-attention · contexte long natif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Multilingue → couvre EN + FR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Encodeur bidirectionnel → pooling [CLS]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Le message d'un jeune 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          ↓                                                 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[mmBERT]  ← c'est "ça"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          ↓                            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    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vecteur 768-dim (sens du texte)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          ↓                            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[Tête de classification]  ← dataset ajoutée par nous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          ↓                            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    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P(high_risk)  →  score_bert                            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          ↓                            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Fusion avec score_llm  (Mistral)                        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          ↓                            </a:t>
            </a:r>
            <a:endParaRPr b="0" lang="fr-CA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     </a:t>
            </a:r>
            <a:r>
              <a:rPr b="0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Décision finale                    </a:t>
            </a:r>
            <a:endParaRPr b="0" lang="fr-CA" sz="1500" spc="-1" strike="noStrike">
              <a:latin typeface="Arial"/>
            </a:endParaRPr>
          </a:p>
        </p:txBody>
      </p:sp>
      <p:sp>
        <p:nvSpPr>
          <p:cNvPr id="124" name="Rounded Rectangle 8"/>
          <p:cNvSpPr/>
          <p:nvPr/>
        </p:nvSpPr>
        <p:spPr>
          <a:xfrm>
            <a:off x="6217920" y="1280160"/>
            <a:ext cx="5575320" cy="537984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TextBox 9"/>
          <p:cNvSpPr/>
          <p:nvPr/>
        </p:nvSpPr>
        <p:spPr>
          <a:xfrm>
            <a:off x="6492240" y="1463040"/>
            <a:ext cx="50266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b86b"/>
                </a:solidFill>
                <a:latin typeface="Consolas"/>
                <a:ea typeface="DejaVu Sans"/>
              </a:rPr>
              <a:t>Tête de classification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6492240" y="1965960"/>
            <a:ext cx="5301000" cy="24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AutoModelForSequenceClassification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.from_pretrained(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"jhu-clsp/mmBERT-base",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num_labels = 2,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id2label   = {0: </a:t>
            </a:r>
            <a:r>
              <a:rPr b="1" lang="en-US" sz="1400" spc="-1" strike="noStrike">
                <a:solidFill>
                  <a:srgbClr val="6be0a5"/>
                </a:solidFill>
                <a:latin typeface="Consolas"/>
                <a:ea typeface="DejaVu Sans"/>
              </a:rPr>
              <a:t>low_risk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,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            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1: </a:t>
            </a:r>
            <a:r>
              <a:rPr b="1" lang="en-US" sz="1400" spc="-1" strike="noStrike">
                <a:solidFill>
                  <a:srgbClr val="ff7a7a"/>
                </a:solidFill>
                <a:latin typeface="Consolas"/>
                <a:ea typeface="DejaVu Sans"/>
              </a:rPr>
              <a:t>high_risk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},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label2id   = {low_risk:  0,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            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high_risk: 1},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)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→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Linear(hidden, 2) sur [CLS]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→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softmax → P(high_risk)</a:t>
            </a:r>
            <a:endParaRPr b="0" lang="fr-CA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08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457200" y="502920"/>
            <a:ext cx="1097028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LLM-as-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Judge · 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Mistral-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Large + 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prompt 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expert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129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31" name="Rounded Rectangle 5"/>
          <p:cNvSpPr/>
          <p:nvPr/>
        </p:nvSpPr>
        <p:spPr>
          <a:xfrm>
            <a:off x="457200" y="1280160"/>
            <a:ext cx="539244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TextBox 6"/>
          <p:cNvSpPr/>
          <p:nvPr/>
        </p:nvSpPr>
        <p:spPr>
          <a:xfrm>
            <a:off x="640080" y="1417320"/>
            <a:ext cx="50266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5ec8ff"/>
                </a:solidFill>
                <a:latin typeface="Calibri"/>
                <a:ea typeface="DejaVu Sans"/>
              </a:rPr>
              <a:t>Fournisseur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640080" y="1874520"/>
            <a:ext cx="5026680" cy="30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model  =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Mistral-Large-3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   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-675B-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Instruct-2512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   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-NVFP4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temperature   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0.0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max_tokens    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256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max_retries   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2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timeout        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30 s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response_format 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JSON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{ "high_risk" :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bool,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"score"     :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0.0 – 1.0 }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hébergé sur BUZZ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(aucune API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externe autorisée </a:t>
            </a:r>
            <a:r>
              <a:rPr b="0" lang="en-US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à l'exécution)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134" name="Rounded Rectangle 8"/>
          <p:cNvSpPr/>
          <p:nvPr/>
        </p:nvSpPr>
        <p:spPr>
          <a:xfrm>
            <a:off x="6035040" y="1280160"/>
            <a:ext cx="575820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TextBox 9"/>
          <p:cNvSpPr/>
          <p:nvPr/>
        </p:nvSpPr>
        <p:spPr>
          <a:xfrm>
            <a:off x="6217920" y="1417320"/>
            <a:ext cx="53924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b86b"/>
                </a:solidFill>
                <a:latin typeface="Calibri"/>
                <a:ea typeface="DejaVu Sans"/>
              </a:rPr>
              <a:t>EXPERT_GUARDRAIL_PROMPT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136" name="TextBox 10"/>
          <p:cNvSpPr/>
          <p:nvPr/>
        </p:nvSpPr>
        <p:spPr>
          <a:xfrm>
            <a:off x="6217920" y="1874520"/>
            <a:ext cx="539244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• 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8 signaux HIGH-RISK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  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idéation suicidaire · auto-mutilation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  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danger imminent · violence envers autrui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  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abus · détresse voilée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  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escalade multi-tours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  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désespoir passif + effondrement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10 critères LOW-RISK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  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académique, somatique pur, négation,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  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hésitation, solitude sans crise…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• 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8 RÈGLES CRITIQUES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  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sujet ≠ risque · la négation compte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  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déni + détresse = high risk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  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expressions québécoises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11 few-shot examples (EN / FR)</a:t>
            </a:r>
            <a:endParaRPr b="0" lang="fr-CA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07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457200" y="502920"/>
            <a:ext cx="1097028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Fine-tuning · 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HuggingFace Trainer + 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dataset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139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41" name="Rounded Rectangle 5"/>
          <p:cNvSpPr/>
          <p:nvPr/>
        </p:nvSpPr>
        <p:spPr>
          <a:xfrm>
            <a:off x="457200" y="1280160"/>
            <a:ext cx="575820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TextBox 6"/>
          <p:cNvSpPr/>
          <p:nvPr/>
        </p:nvSpPr>
        <p:spPr>
          <a:xfrm>
            <a:off x="640080" y="1417320"/>
            <a:ext cx="53924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5ec8ff"/>
                </a:solidFill>
                <a:latin typeface="Calibri"/>
                <a:ea typeface="DejaVu Sans"/>
              </a:rPr>
              <a:t> </a:t>
            </a:r>
            <a:r>
              <a:rPr b="1" lang="en-US" sz="1600" spc="-1" strike="noStrike">
                <a:solidFill>
                  <a:srgbClr val="5ec8ff"/>
                </a:solidFill>
                <a:latin typeface="Calibri"/>
                <a:ea typeface="DejaVu Sans"/>
              </a:rPr>
              <a:t>Hyperparamètres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685800" y="187452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num_train_epochs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3200400" y="187452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3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685800" y="217620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batch_size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46" name="TextBox 10"/>
          <p:cNvSpPr/>
          <p:nvPr/>
        </p:nvSpPr>
        <p:spPr>
          <a:xfrm>
            <a:off x="3200400" y="217620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8  (par device)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47" name="TextBox 11"/>
          <p:cNvSpPr/>
          <p:nvPr/>
        </p:nvSpPr>
        <p:spPr>
          <a:xfrm>
            <a:off x="685800" y="247788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learning_rate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48" name="TextBox 12"/>
          <p:cNvSpPr/>
          <p:nvPr/>
        </p:nvSpPr>
        <p:spPr>
          <a:xfrm>
            <a:off x="3200400" y="247788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5e-5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49" name="TextBox 13"/>
          <p:cNvSpPr/>
          <p:nvPr/>
        </p:nvSpPr>
        <p:spPr>
          <a:xfrm>
            <a:off x="685800" y="277992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warmup_ratio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50" name="TextBox 14"/>
          <p:cNvSpPr/>
          <p:nvPr/>
        </p:nvSpPr>
        <p:spPr>
          <a:xfrm>
            <a:off x="3200400" y="277992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0,1   (linéaire)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51" name="TextBox 15"/>
          <p:cNvSpPr/>
          <p:nvPr/>
        </p:nvSpPr>
        <p:spPr>
          <a:xfrm>
            <a:off x="685800" y="308160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weight_decay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52" name="TextBox 16"/>
          <p:cNvSpPr/>
          <p:nvPr/>
        </p:nvSpPr>
        <p:spPr>
          <a:xfrm>
            <a:off x="3200400" y="308160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0,01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53" name="TextBox 17"/>
          <p:cNvSpPr/>
          <p:nvPr/>
        </p:nvSpPr>
        <p:spPr>
          <a:xfrm>
            <a:off x="685800" y="338328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max_grad_norm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54" name="TextBox 18"/>
          <p:cNvSpPr/>
          <p:nvPr/>
        </p:nvSpPr>
        <p:spPr>
          <a:xfrm>
            <a:off x="3200400" y="338328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1,0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55" name="TextBox 19"/>
          <p:cNvSpPr/>
          <p:nvPr/>
        </p:nvSpPr>
        <p:spPr>
          <a:xfrm>
            <a:off x="685800" y="368496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max_length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56" name="TextBox 20"/>
          <p:cNvSpPr/>
          <p:nvPr/>
        </p:nvSpPr>
        <p:spPr>
          <a:xfrm>
            <a:off x="3200400" y="368496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512 tokens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57" name="TextBox 21"/>
          <p:cNvSpPr/>
          <p:nvPr/>
        </p:nvSpPr>
        <p:spPr>
          <a:xfrm>
            <a:off x="685800" y="398664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optimiseur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58" name="TextBox 22"/>
          <p:cNvSpPr/>
          <p:nvPr/>
        </p:nvSpPr>
        <p:spPr>
          <a:xfrm>
            <a:off x="3200400" y="398664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AdamW   β=(.9, .999)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59" name="TextBox 23"/>
          <p:cNvSpPr/>
          <p:nvPr/>
        </p:nvSpPr>
        <p:spPr>
          <a:xfrm>
            <a:off x="685800" y="428868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loss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60" name="TextBox 24"/>
          <p:cNvSpPr/>
          <p:nvPr/>
        </p:nvSpPr>
        <p:spPr>
          <a:xfrm>
            <a:off x="3200400" y="428868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cross-entropy (2 logits)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61" name="TextBox 25"/>
          <p:cNvSpPr/>
          <p:nvPr/>
        </p:nvSpPr>
        <p:spPr>
          <a:xfrm>
            <a:off x="685800" y="459036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eval_strategy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62" name="TextBox 26"/>
          <p:cNvSpPr/>
          <p:nvPr/>
        </p:nvSpPr>
        <p:spPr>
          <a:xfrm>
            <a:off x="3200400" y="459036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epoch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63" name="TextBox 27"/>
          <p:cNvSpPr/>
          <p:nvPr/>
        </p:nvSpPr>
        <p:spPr>
          <a:xfrm>
            <a:off x="685800" y="489204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metric_for_best_model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64" name="TextBox 28"/>
          <p:cNvSpPr/>
          <p:nvPr/>
        </p:nvSpPr>
        <p:spPr>
          <a:xfrm>
            <a:off x="3200400" y="489204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f1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65" name="TextBox 29"/>
          <p:cNvSpPr/>
          <p:nvPr/>
        </p:nvSpPr>
        <p:spPr>
          <a:xfrm>
            <a:off x="685800" y="519372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fp16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66" name="TextBox 30"/>
          <p:cNvSpPr/>
          <p:nvPr/>
        </p:nvSpPr>
        <p:spPr>
          <a:xfrm>
            <a:off x="3200400" y="519372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False   (stabilité)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67" name="TextBox 31"/>
          <p:cNvSpPr/>
          <p:nvPr/>
        </p:nvSpPr>
        <p:spPr>
          <a:xfrm>
            <a:off x="685800" y="549540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seed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68" name="TextBox 32"/>
          <p:cNvSpPr/>
          <p:nvPr/>
        </p:nvSpPr>
        <p:spPr>
          <a:xfrm>
            <a:off x="3200400" y="5495400"/>
            <a:ext cx="2923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42   (split 80 / 20)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69" name="Rounded Rectangle 33"/>
          <p:cNvSpPr/>
          <p:nvPr/>
        </p:nvSpPr>
        <p:spPr>
          <a:xfrm>
            <a:off x="6400800" y="1280160"/>
            <a:ext cx="539244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TextBox 34"/>
          <p:cNvSpPr/>
          <p:nvPr/>
        </p:nvSpPr>
        <p:spPr>
          <a:xfrm>
            <a:off x="6583680" y="1417320"/>
            <a:ext cx="50266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b86b"/>
                </a:solidFill>
                <a:latin typeface="Calibri"/>
                <a:ea typeface="DejaVu Sans"/>
              </a:rPr>
              <a:t> </a:t>
            </a:r>
            <a:r>
              <a:rPr b="1" lang="en-US" sz="1600" spc="-1" strike="noStrike">
                <a:solidFill>
                  <a:srgbClr val="ffb86b"/>
                </a:solidFill>
                <a:latin typeface="Calibri"/>
                <a:ea typeface="DejaVu Sans"/>
              </a:rPr>
              <a:t>Pipeline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171" name="TextBox 35"/>
          <p:cNvSpPr/>
          <p:nvPr/>
        </p:nvSpPr>
        <p:spPr>
          <a:xfrm>
            <a:off x="6583680" y="1800000"/>
            <a:ext cx="5026680" cy="43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Box 51"/>
          <p:cNvSpPr/>
          <p:nvPr/>
        </p:nvSpPr>
        <p:spPr>
          <a:xfrm>
            <a:off x="6583680" y="1874520"/>
            <a:ext cx="5026680" cy="36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Box 62"/>
          <p:cNvSpPr/>
          <p:nvPr/>
        </p:nvSpPr>
        <p:spPr>
          <a:xfrm>
            <a:off x="6583680" y="1874520"/>
            <a:ext cx="5026680" cy="36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Box 63"/>
          <p:cNvSpPr/>
          <p:nvPr/>
        </p:nvSpPr>
        <p:spPr>
          <a:xfrm>
            <a:off x="6583680" y="1874520"/>
            <a:ext cx="5026680" cy="37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1.  tokenizer(texts,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      </a:t>
            </a: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truncation=True,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      </a:t>
            </a: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max_length=512,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      </a:t>
            </a: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padding='max_length')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2.  torch.randperm  ·  seed=42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    → </a:t>
            </a: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80 % train  ·  20 % eval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3.  Trainer(model, args,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      </a:t>
            </a:r>
            <a:r>
              <a:rPr b="1" lang="en-US" sz="1400" spc="-1" strike="noStrike">
                <a:solidFill>
                  <a:srgbClr val="6be0a5"/>
                </a:solidFill>
                <a:latin typeface="Consolas"/>
                <a:ea typeface="DejaVu Sans"/>
              </a:rPr>
              <a:t>train_dataset</a:t>
            </a: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, eval_dataset,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      </a:t>
            </a: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compute_metrics)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4.  compute_metrics :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      </a:t>
            </a: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preds = argmax(logits)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      </a:t>
            </a: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f1, precision, recall, acc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5.  save_pretrained(output_dir)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+ guardrail_config.json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    → </a:t>
            </a: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tar.gz  →  S3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    → </a:t>
            </a: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téléchargé par configure.sh</a:t>
            </a:r>
            <a:endParaRPr b="0" lang="fr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06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76" name="TextBox 2"/>
          <p:cNvSpPr/>
          <p:nvPr/>
        </p:nvSpPr>
        <p:spPr>
          <a:xfrm>
            <a:off x="457200" y="502920"/>
            <a:ext cx="1097028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Dataset · combined_training.csv · 784 conversations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177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79" name="Rounded Rectangle 5"/>
          <p:cNvSpPr/>
          <p:nvPr/>
        </p:nvSpPr>
        <p:spPr>
          <a:xfrm>
            <a:off x="457200" y="1280160"/>
            <a:ext cx="584964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TextBox 6"/>
          <p:cNvSpPr/>
          <p:nvPr/>
        </p:nvSpPr>
        <p:spPr>
          <a:xfrm>
            <a:off x="640080" y="1417320"/>
            <a:ext cx="54838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5ec8ff"/>
                </a:solidFill>
                <a:latin typeface="Calibri"/>
                <a:ea typeface="DejaVu Sans"/>
              </a:rPr>
              <a:t> </a:t>
            </a:r>
            <a:r>
              <a:rPr b="1" lang="en-US" sz="1600" spc="-1" strike="noStrike">
                <a:solidFill>
                  <a:srgbClr val="5ec8ff"/>
                </a:solidFill>
                <a:latin typeface="Calibri"/>
                <a:ea typeface="DejaVu Sans"/>
              </a:rPr>
              <a:t>Composition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181" name="TextBox 7"/>
          <p:cNvSpPr/>
          <p:nvPr/>
        </p:nvSpPr>
        <p:spPr>
          <a:xfrm>
            <a:off x="640080" y="1965960"/>
            <a:ext cx="2649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source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82" name="TextBox 8"/>
          <p:cNvSpPr/>
          <p:nvPr/>
        </p:nvSpPr>
        <p:spPr>
          <a:xfrm>
            <a:off x="3291840" y="1965960"/>
            <a:ext cx="637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N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83" name="TextBox 9"/>
          <p:cNvSpPr/>
          <p:nvPr/>
        </p:nvSpPr>
        <p:spPr>
          <a:xfrm>
            <a:off x="3931920" y="196596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méthode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640080" y="2331720"/>
            <a:ext cx="2649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seed_validation_set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85" name="TextBox 11"/>
          <p:cNvSpPr/>
          <p:nvPr/>
        </p:nvSpPr>
        <p:spPr>
          <a:xfrm>
            <a:off x="3291840" y="2331720"/>
            <a:ext cx="637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b86b"/>
                </a:solidFill>
                <a:latin typeface="Consolas"/>
                <a:ea typeface="DejaVu Sans"/>
              </a:rPr>
              <a:t>94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86" name="TextBox 12"/>
          <p:cNvSpPr/>
          <p:nvPr/>
        </p:nvSpPr>
        <p:spPr>
          <a:xfrm>
            <a:off x="3931920" y="2331720"/>
            <a:ext cx="2374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officiel KHP (leak, voir §7)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87" name="TextBox 13"/>
          <p:cNvSpPr/>
          <p:nvPr/>
        </p:nvSpPr>
        <p:spPr>
          <a:xfrm>
            <a:off x="640080" y="2743200"/>
            <a:ext cx="2649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training_data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88" name="TextBox 14"/>
          <p:cNvSpPr/>
          <p:nvPr/>
        </p:nvSpPr>
        <p:spPr>
          <a:xfrm>
            <a:off x="3291840" y="2743200"/>
            <a:ext cx="637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b86b"/>
                </a:solidFill>
                <a:latin typeface="Consolas"/>
                <a:ea typeface="DejaVu Sans"/>
              </a:rPr>
              <a:t>35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89" name="TextBox 15"/>
          <p:cNvSpPr/>
          <p:nvPr/>
        </p:nvSpPr>
        <p:spPr>
          <a:xfrm>
            <a:off x="3931920" y="2743200"/>
            <a:ext cx="23749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hand-crafted · gap-filling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90" name="TextBox 16"/>
          <p:cNvSpPr/>
          <p:nvPr/>
        </p:nvSpPr>
        <p:spPr>
          <a:xfrm>
            <a:off x="640080" y="3154680"/>
            <a:ext cx="2649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generated_conversation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91" name="TextBox 17"/>
          <p:cNvSpPr/>
          <p:nvPr/>
        </p:nvSpPr>
        <p:spPr>
          <a:xfrm>
            <a:off x="3291840" y="3154680"/>
            <a:ext cx="637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b86b"/>
                </a:solidFill>
                <a:latin typeface="Consolas"/>
                <a:ea typeface="DejaVu Sans"/>
              </a:rPr>
              <a:t>600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92" name="TextBox 18"/>
          <p:cNvSpPr/>
          <p:nvPr/>
        </p:nvSpPr>
        <p:spPr>
          <a:xfrm>
            <a:off x="3931920" y="3154680"/>
            <a:ext cx="2374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Claude API · 4 paliers → binaire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93" name="TextBox 19"/>
          <p:cNvSpPr/>
          <p:nvPr/>
        </p:nvSpPr>
        <p:spPr>
          <a:xfrm>
            <a:off x="640080" y="3566160"/>
            <a:ext cx="26492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generated_adversarial_conversation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94" name="TextBox 20"/>
          <p:cNvSpPr/>
          <p:nvPr/>
        </p:nvSpPr>
        <p:spPr>
          <a:xfrm>
            <a:off x="3291840" y="3566160"/>
            <a:ext cx="637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b86b"/>
                </a:solidFill>
                <a:latin typeface="Consolas"/>
                <a:ea typeface="DejaVu Sans"/>
              </a:rPr>
              <a:t>36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95" name="TextBox 21"/>
          <p:cNvSpPr/>
          <p:nvPr/>
        </p:nvSpPr>
        <p:spPr>
          <a:xfrm>
            <a:off x="3931920" y="3566160"/>
            <a:ext cx="2374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sarcasme, négation, slang QC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196" name="TextBox 22"/>
          <p:cNvSpPr/>
          <p:nvPr/>
        </p:nvSpPr>
        <p:spPr>
          <a:xfrm>
            <a:off x="640080" y="4069080"/>
            <a:ext cx="54838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Équilibre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197" name="TextBox 23"/>
          <p:cNvSpPr/>
          <p:nvPr/>
        </p:nvSpPr>
        <p:spPr>
          <a:xfrm>
            <a:off x="640080" y="4480560"/>
            <a:ext cx="5483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high_risk  421  (53,7 %)   ·   low_risk  363  (46,3 %)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98" name="TextBox 24"/>
          <p:cNvSpPr/>
          <p:nvPr/>
        </p:nvSpPr>
        <p:spPr>
          <a:xfrm>
            <a:off x="640080" y="4846320"/>
            <a:ext cx="548388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EN  414   ·   FR  352   ·   mixte  18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Ps: 102 Hidden validation conversations dataset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199" name="Rounded Rectangle 25"/>
          <p:cNvSpPr/>
          <p:nvPr/>
        </p:nvSpPr>
        <p:spPr>
          <a:xfrm>
            <a:off x="6492240" y="1280160"/>
            <a:ext cx="530100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TextBox 26"/>
          <p:cNvSpPr/>
          <p:nvPr/>
        </p:nvSpPr>
        <p:spPr>
          <a:xfrm>
            <a:off x="6675120" y="1417320"/>
            <a:ext cx="49352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5ec8ff"/>
                </a:solidFill>
                <a:latin typeface="Calibri"/>
                <a:ea typeface="DejaVu Sans"/>
              </a:rPr>
              <a:t> </a:t>
            </a:r>
            <a:r>
              <a:rPr b="1" lang="en-US" sz="1600" spc="-1" strike="noStrike">
                <a:solidFill>
                  <a:srgbClr val="5ec8ff"/>
                </a:solidFill>
                <a:latin typeface="Calibri"/>
                <a:ea typeface="DejaVu Sans"/>
              </a:rPr>
              <a:t>Couverture DEI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201" name="TextBox 27"/>
          <p:cNvSpPr/>
          <p:nvPr/>
        </p:nvSpPr>
        <p:spPr>
          <a:xfrm>
            <a:off x="6675120" y="1920240"/>
            <a:ext cx="4935240" cy="28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Jeunes 2ELGBTQ+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Premières Nations / autochtones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Nouveaux arrivants / immigrants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Neurodivergents (TDAH, autisme)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Jeunes racisés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Jeunes en famille d'accueil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Instabilité du logement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Handicap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Cas limites · douleur physique pure,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sarcasme, code-switching, euphémismes,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slang québécois, emoji seulement,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2f2f2"/>
                </a:solidFill>
                <a:latin typeface="Calibri"/>
                <a:ea typeface="DejaVu Sans"/>
              </a:rPr>
              <a:t>manipulation par reprise rapide</a:t>
            </a:r>
            <a:endParaRPr b="0" lang="fr-CA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10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03" name="TextBox 2"/>
          <p:cNvSpPr/>
          <p:nvPr/>
        </p:nvSpPr>
        <p:spPr>
          <a:xfrm>
            <a:off x="457200" y="502920"/>
            <a:ext cx="1097028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Exécution · pipeline évaluateur (notre repo github) 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204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06" name="Rounded Rectangle 5"/>
          <p:cNvSpPr/>
          <p:nvPr/>
        </p:nvSpPr>
        <p:spPr>
          <a:xfrm>
            <a:off x="457200" y="1280160"/>
            <a:ext cx="1124460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7" name="Rounded Rectangle 203"/>
          <p:cNvSpPr/>
          <p:nvPr/>
        </p:nvSpPr>
        <p:spPr>
          <a:xfrm>
            <a:off x="731520" y="1463040"/>
            <a:ext cx="10697760" cy="114228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 w="12700">
            <a:solidFill>
              <a:srgbClr val="5ec8ff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8" name="TextBox 204"/>
          <p:cNvSpPr/>
          <p:nvPr/>
        </p:nvSpPr>
        <p:spPr>
          <a:xfrm>
            <a:off x="914400" y="1600200"/>
            <a:ext cx="73080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2600" spc="-1" strike="noStrike">
                <a:solidFill>
                  <a:srgbClr val="5ec8ff"/>
                </a:solidFill>
                <a:latin typeface="Consolas"/>
                <a:ea typeface="DejaVu Sans"/>
              </a:rPr>
              <a:t>1</a:t>
            </a:r>
            <a:endParaRPr b="0" lang="fr-CA" sz="2600" spc="-1" strike="noStrike">
              <a:latin typeface="Arial"/>
            </a:endParaRPr>
          </a:p>
        </p:txBody>
      </p:sp>
      <p:sp>
        <p:nvSpPr>
          <p:cNvPr id="209" name="TextBox 205"/>
          <p:cNvSpPr/>
          <p:nvPr/>
        </p:nvSpPr>
        <p:spPr>
          <a:xfrm>
            <a:off x="1737360" y="1627560"/>
            <a:ext cx="95090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1500" spc="-1" strike="noStrike">
                <a:solidFill>
                  <a:srgbClr val="ffb86b"/>
                </a:solidFill>
                <a:latin typeface="Consolas"/>
                <a:ea typeface="DejaVu Sans"/>
              </a:rPr>
              <a:t>configure.sh</a:t>
            </a:r>
            <a:endParaRPr b="0" lang="fr-CA" sz="1500" spc="-1" strike="noStrike">
              <a:latin typeface="Arial"/>
            </a:endParaRPr>
          </a:p>
        </p:txBody>
      </p:sp>
      <p:sp>
        <p:nvSpPr>
          <p:cNvPr id="210" name="TextBox 206"/>
          <p:cNvSpPr/>
          <p:nvPr/>
        </p:nvSpPr>
        <p:spPr>
          <a:xfrm>
            <a:off x="1737360" y="1965960"/>
            <a:ext cx="960048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onsolas"/>
                <a:ea typeface="DejaVu Sans"/>
              </a:rPr>
              <a:t>pip install (pyproject.toml)</a:t>
            </a:r>
            <a:endParaRPr b="0" lang="fr-CA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onsolas"/>
                <a:ea typeface="DejaVu Sans"/>
              </a:rPr>
              <a:t>téléchargement de mbert_finetuned.tar.gz depuis S3 (hackathon.json)</a:t>
            </a:r>
            <a:endParaRPr b="0" lang="fr-CA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onsolas"/>
                <a:ea typeface="DejaVu Sans"/>
              </a:rPr>
              <a:t>extraction → project/models/mbert_finetuned/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11" name="Rounded Rectangle 207"/>
          <p:cNvSpPr/>
          <p:nvPr/>
        </p:nvSpPr>
        <p:spPr>
          <a:xfrm>
            <a:off x="731520" y="2651760"/>
            <a:ext cx="10697760" cy="114228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 w="12700">
            <a:solidFill>
              <a:srgbClr val="5ec8ff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2" name="TextBox 208"/>
          <p:cNvSpPr/>
          <p:nvPr/>
        </p:nvSpPr>
        <p:spPr>
          <a:xfrm>
            <a:off x="914400" y="2788920"/>
            <a:ext cx="73080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2600" spc="-1" strike="noStrike">
                <a:solidFill>
                  <a:srgbClr val="5ec8ff"/>
                </a:solidFill>
                <a:latin typeface="Consolas"/>
                <a:ea typeface="DejaVu Sans"/>
              </a:rPr>
              <a:t>2</a:t>
            </a:r>
            <a:endParaRPr b="0" lang="fr-CA" sz="2600" spc="-1" strike="noStrike">
              <a:latin typeface="Arial"/>
            </a:endParaRPr>
          </a:p>
        </p:txBody>
      </p:sp>
      <p:sp>
        <p:nvSpPr>
          <p:cNvPr id="213" name="TextBox 209"/>
          <p:cNvSpPr/>
          <p:nvPr/>
        </p:nvSpPr>
        <p:spPr>
          <a:xfrm>
            <a:off x="1737360" y="2816280"/>
            <a:ext cx="95090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1500" spc="-1" strike="noStrike">
                <a:solidFill>
                  <a:srgbClr val="ffb86b"/>
                </a:solidFill>
                <a:latin typeface="Consolas"/>
                <a:ea typeface="DejaVu Sans"/>
              </a:rPr>
              <a:t>predict.sh</a:t>
            </a:r>
            <a:endParaRPr b="0" lang="fr-CA" sz="1500" spc="-1" strike="noStrike">
              <a:latin typeface="Arial"/>
            </a:endParaRPr>
          </a:p>
        </p:txBody>
      </p:sp>
      <p:sp>
        <p:nvSpPr>
          <p:cNvPr id="214" name="TextBox 210"/>
          <p:cNvSpPr/>
          <p:nvPr/>
        </p:nvSpPr>
        <p:spPr>
          <a:xfrm>
            <a:off x="1737360" y="3154680"/>
            <a:ext cx="960048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onsolas"/>
                <a:ea typeface="DejaVu Sans"/>
              </a:rPr>
              <a:t>chargement de submission.get_guardrails()</a:t>
            </a:r>
            <a:endParaRPr b="0" lang="fr-CA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onsolas"/>
                <a:ea typeface="DejaVu Sans"/>
              </a:rPr>
              <a:t>itération sur seed_validation_set.csv</a:t>
            </a:r>
            <a:endParaRPr b="0" lang="fr-CA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onsolas"/>
                <a:ea typeface="DejaVu Sans"/>
              </a:rPr>
              <a:t>input_guardrail.evaluate(text) → predictions.csv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15" name="Rounded Rectangle 211"/>
          <p:cNvSpPr/>
          <p:nvPr/>
        </p:nvSpPr>
        <p:spPr>
          <a:xfrm>
            <a:off x="731520" y="3840480"/>
            <a:ext cx="10697760" cy="114228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 w="12700">
            <a:solidFill>
              <a:srgbClr val="ffb86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6" name="TextBox 212"/>
          <p:cNvSpPr/>
          <p:nvPr/>
        </p:nvSpPr>
        <p:spPr>
          <a:xfrm>
            <a:off x="914400" y="3977640"/>
            <a:ext cx="73080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2600" spc="-1" strike="noStrike">
                <a:solidFill>
                  <a:srgbClr val="ffb86b"/>
                </a:solidFill>
                <a:latin typeface="Consolas"/>
                <a:ea typeface="DejaVu Sans"/>
              </a:rPr>
              <a:t>3</a:t>
            </a:r>
            <a:endParaRPr b="0" lang="fr-CA" sz="2600" spc="-1" strike="noStrike">
              <a:latin typeface="Arial"/>
            </a:endParaRPr>
          </a:p>
        </p:txBody>
      </p:sp>
      <p:sp>
        <p:nvSpPr>
          <p:cNvPr id="217" name="TextBox 213"/>
          <p:cNvSpPr/>
          <p:nvPr/>
        </p:nvSpPr>
        <p:spPr>
          <a:xfrm>
            <a:off x="1737360" y="4005000"/>
            <a:ext cx="95090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1500" spc="-1" strike="noStrike">
                <a:solidFill>
                  <a:srgbClr val="ffb86b"/>
                </a:solidFill>
                <a:latin typeface="Consolas"/>
                <a:ea typeface="DejaVu Sans"/>
              </a:rPr>
              <a:t>submission.py · FullFusionGuardrail</a:t>
            </a:r>
            <a:endParaRPr b="0" lang="fr-CA" sz="1500" spc="-1" strike="noStrike">
              <a:latin typeface="Arial"/>
            </a:endParaRPr>
          </a:p>
        </p:txBody>
      </p:sp>
      <p:sp>
        <p:nvSpPr>
          <p:cNvPr id="218" name="TextBox 214"/>
          <p:cNvSpPr/>
          <p:nvPr/>
        </p:nvSpPr>
        <p:spPr>
          <a:xfrm>
            <a:off x="1737360" y="4343400"/>
            <a:ext cx="960048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onsolas"/>
                <a:ea typeface="DejaVu Sans"/>
              </a:rPr>
              <a:t>score_bert ← mBERT classifier    ·    score_llm ← Mistral judge</a:t>
            </a:r>
            <a:endParaRPr b="0" lang="fr-CA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onsolas"/>
                <a:ea typeface="DejaVu Sans"/>
              </a:rPr>
              <a:t>fused = 0,4·score_bert + 0,6·score_llm   (fusion tardive pondérée)</a:t>
            </a:r>
            <a:endParaRPr b="0" lang="fr-CA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onsolas"/>
                <a:ea typeface="DejaVu Sans"/>
              </a:rPr>
              <a:t>Gate 12 : si method_term ET fused &gt; 0,15 → FAIL    ·    sinon fused ≥ 0,50 → FAIL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19" name="Rounded Rectangle 215"/>
          <p:cNvSpPr/>
          <p:nvPr/>
        </p:nvSpPr>
        <p:spPr>
          <a:xfrm>
            <a:off x="731520" y="5029200"/>
            <a:ext cx="10697760" cy="114228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 w="12700">
            <a:solidFill>
              <a:srgbClr val="5ec8ff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TextBox 216"/>
          <p:cNvSpPr/>
          <p:nvPr/>
        </p:nvSpPr>
        <p:spPr>
          <a:xfrm>
            <a:off x="914400" y="5166360"/>
            <a:ext cx="73080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2600" spc="-1" strike="noStrike">
                <a:solidFill>
                  <a:srgbClr val="5ec8ff"/>
                </a:solidFill>
                <a:latin typeface="Consolas"/>
                <a:ea typeface="DejaVu Sans"/>
              </a:rPr>
              <a:t>4</a:t>
            </a:r>
            <a:endParaRPr b="0" lang="fr-CA" sz="2600" spc="-1" strike="noStrike">
              <a:latin typeface="Arial"/>
            </a:endParaRPr>
          </a:p>
        </p:txBody>
      </p:sp>
      <p:sp>
        <p:nvSpPr>
          <p:cNvPr id="221" name="TextBox 217"/>
          <p:cNvSpPr/>
          <p:nvPr/>
        </p:nvSpPr>
        <p:spPr>
          <a:xfrm>
            <a:off x="1737360" y="5193720"/>
            <a:ext cx="95090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1500" spc="-1" strike="noStrike">
                <a:solidFill>
                  <a:srgbClr val="ffb86b"/>
                </a:solidFill>
                <a:latin typeface="Consolas"/>
                <a:ea typeface="DejaVu Sans"/>
              </a:rPr>
              <a:t>evaluate.sh</a:t>
            </a:r>
            <a:endParaRPr b="0" lang="fr-CA" sz="1500" spc="-1" strike="noStrike">
              <a:latin typeface="Arial"/>
            </a:endParaRPr>
          </a:p>
        </p:txBody>
      </p:sp>
      <p:sp>
        <p:nvSpPr>
          <p:cNvPr id="222" name="TextBox 218"/>
          <p:cNvSpPr/>
          <p:nvPr/>
        </p:nvSpPr>
        <p:spPr>
          <a:xfrm>
            <a:off x="1737360" y="5532120"/>
            <a:ext cx="960048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onsolas"/>
                <a:ea typeface="DejaVu Sans"/>
              </a:rPr>
              <a:t>comparaison prédictions ↔ vérité terrain</a:t>
            </a:r>
            <a:endParaRPr b="0" lang="fr-CA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onsolas"/>
                <a:ea typeface="DejaVu Sans"/>
              </a:rPr>
              <a:t>metrics.py  ·  F1, Précision, Rappel, latence</a:t>
            </a:r>
            <a:endParaRPr b="0" lang="fr-CA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onsolas"/>
                <a:ea typeface="DejaVu Sans"/>
              </a:rPr>
              <a:t>écriture de eval_metrics.csv</a:t>
            </a:r>
            <a:endParaRPr b="0" lang="fr-CA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Box 1"/>
          <p:cNvSpPr/>
          <p:nvPr/>
        </p:nvSpPr>
        <p:spPr>
          <a:xfrm>
            <a:off x="457200" y="320040"/>
            <a:ext cx="182772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12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24" name="TextBox 2"/>
          <p:cNvSpPr/>
          <p:nvPr/>
        </p:nvSpPr>
        <p:spPr>
          <a:xfrm>
            <a:off x="457200" y="502920"/>
            <a:ext cx="10971720" cy="4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2600" spc="-1" strike="noStrike">
                <a:solidFill>
                  <a:srgbClr val="f2f2f2"/>
                </a:solidFill>
                <a:latin typeface="Calibri"/>
                <a:ea typeface="DejaVu Sans"/>
              </a:rPr>
              <a:t>Pourquoi la fusion ? Aucun modèle seul ne suffit</a:t>
            </a:r>
            <a:endParaRPr b="0" lang="fr-CA" sz="2600" spc="-1" strike="noStrike">
              <a:latin typeface="Arial"/>
            </a:endParaRPr>
          </a:p>
        </p:txBody>
      </p:sp>
      <p:sp>
        <p:nvSpPr>
          <p:cNvPr id="225" name="Rectangle 3"/>
          <p:cNvSpPr/>
          <p:nvPr/>
        </p:nvSpPr>
        <p:spPr>
          <a:xfrm>
            <a:off x="457200" y="960120"/>
            <a:ext cx="547560" cy="5364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TextBox 4"/>
          <p:cNvSpPr/>
          <p:nvPr/>
        </p:nvSpPr>
        <p:spPr>
          <a:xfrm>
            <a:off x="10332720" y="320040"/>
            <a:ext cx="146196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27" name="Rounded Rectangle 5"/>
          <p:cNvSpPr/>
          <p:nvPr/>
        </p:nvSpPr>
        <p:spPr>
          <a:xfrm>
            <a:off x="457200" y="1371600"/>
            <a:ext cx="11246040" cy="50184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 w="12700">
            <a:solidFill>
              <a:srgbClr val="5ec8ff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TextBox 6"/>
          <p:cNvSpPr/>
          <p:nvPr/>
        </p:nvSpPr>
        <p:spPr>
          <a:xfrm>
            <a:off x="457200" y="1463040"/>
            <a:ext cx="292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fr-CA" sz="1200" spc="-1" strike="noStrike">
                <a:solidFill>
                  <a:srgbClr val="5ec8ff"/>
                </a:solidFill>
                <a:latin typeface="Consolas"/>
                <a:ea typeface="DejaVu Sans"/>
              </a:rPr>
              <a:t>Métrique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229" name="TextBox 7"/>
          <p:cNvSpPr/>
          <p:nvPr/>
        </p:nvSpPr>
        <p:spPr>
          <a:xfrm>
            <a:off x="3383280" y="1463040"/>
            <a:ext cx="2010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fr-CA" sz="1200" spc="-1" strike="noStrike">
                <a:solidFill>
                  <a:srgbClr val="5ec8ff"/>
                </a:solidFill>
                <a:latin typeface="Consolas"/>
                <a:ea typeface="DejaVu Sans"/>
              </a:rPr>
              <a:t>mBERT seul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230" name="TextBox 8"/>
          <p:cNvSpPr/>
          <p:nvPr/>
        </p:nvSpPr>
        <p:spPr>
          <a:xfrm>
            <a:off x="5394960" y="1463040"/>
            <a:ext cx="2010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fr-CA" sz="1200" spc="-1" strike="noStrike">
                <a:solidFill>
                  <a:srgbClr val="5ec8ff"/>
                </a:solidFill>
                <a:latin typeface="Consolas"/>
                <a:ea typeface="DejaVu Sans"/>
              </a:rPr>
              <a:t>Mistral seul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231" name="TextBox 9"/>
          <p:cNvSpPr/>
          <p:nvPr/>
        </p:nvSpPr>
        <p:spPr>
          <a:xfrm>
            <a:off x="7406640" y="1463040"/>
            <a:ext cx="2010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fr-CA" sz="1200" spc="-1" strike="noStrike">
                <a:solidFill>
                  <a:srgbClr val="5ec8ff"/>
                </a:solidFill>
                <a:latin typeface="Consolas"/>
                <a:ea typeface="DejaVu Sans"/>
              </a:rPr>
              <a:t>Fusion (nous)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232" name="TextBox 10"/>
          <p:cNvSpPr/>
          <p:nvPr/>
        </p:nvSpPr>
        <p:spPr>
          <a:xfrm>
            <a:off x="9418320" y="1463040"/>
            <a:ext cx="2284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fr-CA" sz="1200" spc="-1" strike="noStrike">
                <a:solidFill>
                  <a:srgbClr val="5ec8ff"/>
                </a:solidFill>
                <a:latin typeface="Consolas"/>
                <a:ea typeface="DejaVu Sans"/>
              </a:rPr>
              <a:t>Avantage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233" name="Rounded Rectangle 11"/>
          <p:cNvSpPr/>
          <p:nvPr/>
        </p:nvSpPr>
        <p:spPr>
          <a:xfrm>
            <a:off x="457200" y="1920240"/>
            <a:ext cx="11246040" cy="456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TextBox 12"/>
          <p:cNvSpPr/>
          <p:nvPr/>
        </p:nvSpPr>
        <p:spPr>
          <a:xfrm>
            <a:off x="457200" y="2011680"/>
            <a:ext cx="29250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F1 Score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35" name="TextBox 13"/>
          <p:cNvSpPr/>
          <p:nvPr/>
        </p:nvSpPr>
        <p:spPr>
          <a:xfrm>
            <a:off x="3383280" y="201168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0,818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36" name="TextBox 14"/>
          <p:cNvSpPr/>
          <p:nvPr/>
        </p:nvSpPr>
        <p:spPr>
          <a:xfrm>
            <a:off x="5394960" y="201168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0,813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37" name="TextBox 15"/>
          <p:cNvSpPr/>
          <p:nvPr/>
        </p:nvSpPr>
        <p:spPr>
          <a:xfrm>
            <a:off x="7406640" y="201168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fr-CA" sz="1300" spc="-1" strike="noStrike">
                <a:solidFill>
                  <a:srgbClr val="6be0a5"/>
                </a:solidFill>
                <a:latin typeface="Consolas"/>
                <a:ea typeface="DejaVu Sans"/>
              </a:rPr>
              <a:t>0,876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38" name="TextBox 16"/>
          <p:cNvSpPr/>
          <p:nvPr/>
        </p:nvSpPr>
        <p:spPr>
          <a:xfrm>
            <a:off x="9418320" y="2011680"/>
            <a:ext cx="228492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+0,058 vs mBERT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39" name="Rounded Rectangle 17"/>
          <p:cNvSpPr/>
          <p:nvPr/>
        </p:nvSpPr>
        <p:spPr>
          <a:xfrm>
            <a:off x="457200" y="2423160"/>
            <a:ext cx="11246040" cy="45612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0" name="TextBox 18"/>
          <p:cNvSpPr/>
          <p:nvPr/>
        </p:nvSpPr>
        <p:spPr>
          <a:xfrm>
            <a:off x="457200" y="2514600"/>
            <a:ext cx="29250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Précision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41" name="TextBox 19"/>
          <p:cNvSpPr/>
          <p:nvPr/>
        </p:nvSpPr>
        <p:spPr>
          <a:xfrm>
            <a:off x="3383280" y="251460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0,806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42" name="TextBox 20"/>
          <p:cNvSpPr/>
          <p:nvPr/>
        </p:nvSpPr>
        <p:spPr>
          <a:xfrm>
            <a:off x="5394960" y="251460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0,906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43" name="TextBox 21"/>
          <p:cNvSpPr/>
          <p:nvPr/>
        </p:nvSpPr>
        <p:spPr>
          <a:xfrm>
            <a:off x="7406640" y="251460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fr-CA" sz="1300" spc="-1" strike="noStrike">
                <a:solidFill>
                  <a:srgbClr val="6be0a5"/>
                </a:solidFill>
                <a:latin typeface="Consolas"/>
                <a:ea typeface="DejaVu Sans"/>
              </a:rPr>
              <a:t>0,833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44" name="TextBox 22"/>
          <p:cNvSpPr/>
          <p:nvPr/>
        </p:nvSpPr>
        <p:spPr>
          <a:xfrm>
            <a:off x="9418320" y="2514600"/>
            <a:ext cx="228492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compromis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45" name="Rounded Rectangle 23"/>
          <p:cNvSpPr/>
          <p:nvPr/>
        </p:nvSpPr>
        <p:spPr>
          <a:xfrm>
            <a:off x="457200" y="2926080"/>
            <a:ext cx="11246040" cy="456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6" name="TextBox 24"/>
          <p:cNvSpPr/>
          <p:nvPr/>
        </p:nvSpPr>
        <p:spPr>
          <a:xfrm>
            <a:off x="457200" y="3017520"/>
            <a:ext cx="29250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Rappel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47" name="TextBox 25"/>
          <p:cNvSpPr/>
          <p:nvPr/>
        </p:nvSpPr>
        <p:spPr>
          <a:xfrm>
            <a:off x="3383280" y="301752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0,831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48" name="TextBox 26"/>
          <p:cNvSpPr/>
          <p:nvPr/>
        </p:nvSpPr>
        <p:spPr>
          <a:xfrm>
            <a:off x="5394960" y="301752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0,738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49" name="TextBox 27"/>
          <p:cNvSpPr/>
          <p:nvPr/>
        </p:nvSpPr>
        <p:spPr>
          <a:xfrm>
            <a:off x="7406640" y="301752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fr-CA" sz="1300" spc="-1" strike="noStrike">
                <a:solidFill>
                  <a:srgbClr val="6be0a5"/>
                </a:solidFill>
                <a:latin typeface="Consolas"/>
                <a:ea typeface="DejaVu Sans"/>
              </a:rPr>
              <a:t>0,923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50" name="TextBox 28"/>
          <p:cNvSpPr/>
          <p:nvPr/>
        </p:nvSpPr>
        <p:spPr>
          <a:xfrm>
            <a:off x="9418320" y="3017520"/>
            <a:ext cx="228492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+0,092 vs mBERT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51" name="Rounded Rectangle 29"/>
          <p:cNvSpPr/>
          <p:nvPr/>
        </p:nvSpPr>
        <p:spPr>
          <a:xfrm>
            <a:off x="457200" y="3429000"/>
            <a:ext cx="11246040" cy="456120"/>
          </a:xfrm>
          <a:prstGeom prst="roundRect">
            <a:avLst>
              <a:gd name="adj" fmla="val 16667"/>
            </a:avLst>
          </a:prstGeom>
          <a:solidFill>
            <a:srgbClr val="0a0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2" name="TextBox 30"/>
          <p:cNvSpPr/>
          <p:nvPr/>
        </p:nvSpPr>
        <p:spPr>
          <a:xfrm>
            <a:off x="457200" y="3520440"/>
            <a:ext cx="29250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Latence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53" name="TextBox 31"/>
          <p:cNvSpPr/>
          <p:nvPr/>
        </p:nvSpPr>
        <p:spPr>
          <a:xfrm>
            <a:off x="3383280" y="352044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~70 ms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54" name="TextBox 32"/>
          <p:cNvSpPr/>
          <p:nvPr/>
        </p:nvSpPr>
        <p:spPr>
          <a:xfrm>
            <a:off x="5394960" y="352044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~500 ms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55" name="TextBox 33"/>
          <p:cNvSpPr/>
          <p:nvPr/>
        </p:nvSpPr>
        <p:spPr>
          <a:xfrm>
            <a:off x="7406640" y="352044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fr-CA" sz="1300" spc="-1" strike="noStrike">
                <a:solidFill>
                  <a:srgbClr val="6be0a5"/>
                </a:solidFill>
                <a:latin typeface="Consolas"/>
                <a:ea typeface="DejaVu Sans"/>
              </a:rPr>
              <a:t>~1 000 ms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56" name="TextBox 34"/>
          <p:cNvSpPr/>
          <p:nvPr/>
        </p:nvSpPr>
        <p:spPr>
          <a:xfrm>
            <a:off x="9418320" y="3520440"/>
            <a:ext cx="228492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dans le budget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57" name="Rounded Rectangle 35"/>
          <p:cNvSpPr/>
          <p:nvPr/>
        </p:nvSpPr>
        <p:spPr>
          <a:xfrm>
            <a:off x="457200" y="3931920"/>
            <a:ext cx="11246040" cy="456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8" name="TextBox 36"/>
          <p:cNvSpPr/>
          <p:nvPr/>
        </p:nvSpPr>
        <p:spPr>
          <a:xfrm>
            <a:off x="457200" y="4023360"/>
            <a:ext cx="29250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API requise ?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59" name="TextBox 37"/>
          <p:cNvSpPr/>
          <p:nvPr/>
        </p:nvSpPr>
        <p:spPr>
          <a:xfrm>
            <a:off x="3383280" y="402336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non (local)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60" name="TextBox 38"/>
          <p:cNvSpPr/>
          <p:nvPr/>
        </p:nvSpPr>
        <p:spPr>
          <a:xfrm>
            <a:off x="5394960" y="402336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300" spc="-1" strike="noStrike">
                <a:solidFill>
                  <a:srgbClr val="f2f2f2"/>
                </a:solidFill>
                <a:latin typeface="Consolas"/>
                <a:ea typeface="DejaVu Sans"/>
              </a:rPr>
              <a:t>oui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61" name="TextBox 39"/>
          <p:cNvSpPr/>
          <p:nvPr/>
        </p:nvSpPr>
        <p:spPr>
          <a:xfrm>
            <a:off x="7406640" y="4023360"/>
            <a:ext cx="2010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fr-CA" sz="1300" spc="-1" strike="noStrike">
                <a:solidFill>
                  <a:srgbClr val="6be0a5"/>
                </a:solidFill>
                <a:latin typeface="Consolas"/>
                <a:ea typeface="DejaVu Sans"/>
              </a:rPr>
              <a:t>oui + fallback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62" name="TextBox 40"/>
          <p:cNvSpPr/>
          <p:nvPr/>
        </p:nvSpPr>
        <p:spPr>
          <a:xfrm>
            <a:off x="9418320" y="4023360"/>
            <a:ext cx="228492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résilient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63" name="Rounded Rectangle 41"/>
          <p:cNvSpPr/>
          <p:nvPr/>
        </p:nvSpPr>
        <p:spPr>
          <a:xfrm>
            <a:off x="457200" y="4663440"/>
            <a:ext cx="5531040" cy="12790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solidFill>
              <a:srgbClr val="5ec8ff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4" name="TextBox 42"/>
          <p:cNvSpPr/>
          <p:nvPr/>
        </p:nvSpPr>
        <p:spPr>
          <a:xfrm>
            <a:off x="640080" y="4773240"/>
            <a:ext cx="52110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1300" spc="-1" strike="noStrike">
                <a:solidFill>
                  <a:srgbClr val="5ec8ff"/>
                </a:solidFill>
                <a:latin typeface="Consolas"/>
                <a:ea typeface="DejaVu Sans"/>
              </a:rPr>
              <a:t>mBERT seul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65" name="TextBox 43"/>
          <p:cNvSpPr/>
          <p:nvPr/>
        </p:nvSpPr>
        <p:spPr>
          <a:xfrm>
            <a:off x="640080" y="5120640"/>
            <a:ext cx="52110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alibri"/>
                <a:ea typeface="DejaVu Sans"/>
              </a:rPr>
              <a:t>Fort rappel — attrape beaucoup de crises —</a:t>
            </a:r>
            <a:endParaRPr b="0" lang="fr-CA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alibri"/>
                <a:ea typeface="DejaVu Sans"/>
              </a:rPr>
              <a:t>mais rate la nuance et le langage indirect.</a:t>
            </a:r>
            <a:endParaRPr b="0" lang="fr-CA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alibri"/>
                <a:ea typeface="DejaVu Sans"/>
              </a:rPr>
              <a:t>Trop de faux négatifs sur les cas subtils.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66" name="Rounded Rectangle 44"/>
          <p:cNvSpPr/>
          <p:nvPr/>
        </p:nvSpPr>
        <p:spPr>
          <a:xfrm>
            <a:off x="6172200" y="4663440"/>
            <a:ext cx="5531040" cy="12790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solidFill>
              <a:srgbClr val="5ec8ff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7" name="TextBox 45"/>
          <p:cNvSpPr/>
          <p:nvPr/>
        </p:nvSpPr>
        <p:spPr>
          <a:xfrm>
            <a:off x="6355080" y="4773240"/>
            <a:ext cx="52110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1300" spc="-1" strike="noStrike">
                <a:solidFill>
                  <a:srgbClr val="5ec8ff"/>
                </a:solidFill>
                <a:latin typeface="Consolas"/>
                <a:ea typeface="DejaVu Sans"/>
              </a:rPr>
              <a:t>Mistral seul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68" name="TextBox 46"/>
          <p:cNvSpPr/>
          <p:nvPr/>
        </p:nvSpPr>
        <p:spPr>
          <a:xfrm>
            <a:off x="6355080" y="5120640"/>
            <a:ext cx="52110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alibri"/>
                <a:ea typeface="DejaVu Sans"/>
              </a:rPr>
              <a:t>Forte précision — mais trop conservateur.</a:t>
            </a:r>
            <a:endParaRPr b="0" lang="fr-CA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alibri"/>
                <a:ea typeface="DejaVu Sans"/>
              </a:rPr>
              <a:t>Rate les crises subtiles. Un système optimisé</a:t>
            </a:r>
            <a:endParaRPr b="0" lang="fr-CA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f2f2f2"/>
                </a:solidFill>
                <a:latin typeface="Calibri"/>
                <a:ea typeface="DejaVu Sans"/>
              </a:rPr>
              <a:t>précision laisse les jeunes sans filet.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69" name="TextBox 47"/>
          <p:cNvSpPr/>
          <p:nvPr/>
        </p:nvSpPr>
        <p:spPr>
          <a:xfrm>
            <a:off x="457200" y="6035040"/>
            <a:ext cx="1124604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fr-CA" sz="1000" spc="-1" strike="noStrike">
                <a:solidFill>
                  <a:srgbClr val="9aa3b2"/>
                </a:solidFill>
                <a:latin typeface="Consolas"/>
                <a:ea typeface="DejaVu Sans"/>
              </a:rPr>
              <a:t>Set caché de 102 échantillons  ·  40+ configurations testées  ·  la fusion gagne sur la métrique qui compte : le rappel sur les cas à haut risque.</a:t>
            </a:r>
            <a:endParaRPr b="0" lang="fr-CA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11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71" name="TextBox 2"/>
          <p:cNvSpPr/>
          <p:nvPr/>
        </p:nvSpPr>
        <p:spPr>
          <a:xfrm>
            <a:off x="457200" y="502920"/>
            <a:ext cx="1097028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Métriques · résultats finaux – Top 15 sur ~100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272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3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274" name="Rounded Rectangle 5"/>
          <p:cNvSpPr/>
          <p:nvPr/>
        </p:nvSpPr>
        <p:spPr>
          <a:xfrm>
            <a:off x="457200" y="1280160"/>
            <a:ext cx="2786400" cy="164340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5" name="TextBox 6"/>
          <p:cNvSpPr/>
          <p:nvPr/>
        </p:nvSpPr>
        <p:spPr>
          <a:xfrm>
            <a:off x="548640" y="1417320"/>
            <a:ext cx="2603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9aa3b2"/>
                </a:solidFill>
                <a:latin typeface="Consolas"/>
                <a:ea typeface="DejaVu Sans"/>
              </a:rPr>
              <a:t>F1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276" name="TextBox 7"/>
          <p:cNvSpPr/>
          <p:nvPr/>
        </p:nvSpPr>
        <p:spPr>
          <a:xfrm>
            <a:off x="548640" y="1874520"/>
            <a:ext cx="2603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6be0a5"/>
                </a:solidFill>
                <a:latin typeface="Consolas"/>
                <a:ea typeface="DejaVu Sans"/>
              </a:rPr>
              <a:t>0,876</a:t>
            </a:r>
            <a:endParaRPr b="0" lang="fr-CA" sz="4000" spc="-1" strike="noStrike">
              <a:latin typeface="Arial"/>
            </a:endParaRPr>
          </a:p>
        </p:txBody>
      </p:sp>
      <p:sp>
        <p:nvSpPr>
          <p:cNvPr id="277" name="Rounded Rectangle 8"/>
          <p:cNvSpPr/>
          <p:nvPr/>
        </p:nvSpPr>
        <p:spPr>
          <a:xfrm>
            <a:off x="3383280" y="1280160"/>
            <a:ext cx="2786400" cy="164340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8" name="TextBox 9"/>
          <p:cNvSpPr/>
          <p:nvPr/>
        </p:nvSpPr>
        <p:spPr>
          <a:xfrm>
            <a:off x="3474720" y="1417320"/>
            <a:ext cx="2603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9aa3b2"/>
                </a:solidFill>
                <a:latin typeface="Consolas"/>
                <a:ea typeface="DejaVu Sans"/>
              </a:rPr>
              <a:t>Précision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279" name="TextBox 10"/>
          <p:cNvSpPr/>
          <p:nvPr/>
        </p:nvSpPr>
        <p:spPr>
          <a:xfrm>
            <a:off x="3474720" y="1874520"/>
            <a:ext cx="2603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5ec8ff"/>
                </a:solidFill>
                <a:latin typeface="Consolas"/>
                <a:ea typeface="DejaVu Sans"/>
              </a:rPr>
              <a:t>0,833</a:t>
            </a:r>
            <a:endParaRPr b="0" lang="fr-CA" sz="4000" spc="-1" strike="noStrike">
              <a:latin typeface="Arial"/>
            </a:endParaRPr>
          </a:p>
        </p:txBody>
      </p:sp>
      <p:sp>
        <p:nvSpPr>
          <p:cNvPr id="280" name="Rounded Rectangle 11"/>
          <p:cNvSpPr/>
          <p:nvPr/>
        </p:nvSpPr>
        <p:spPr>
          <a:xfrm>
            <a:off x="6309360" y="1280160"/>
            <a:ext cx="2786400" cy="164340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1" name="TextBox 12"/>
          <p:cNvSpPr/>
          <p:nvPr/>
        </p:nvSpPr>
        <p:spPr>
          <a:xfrm>
            <a:off x="6400800" y="1417320"/>
            <a:ext cx="2603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9aa3b2"/>
                </a:solidFill>
                <a:latin typeface="Consolas"/>
                <a:ea typeface="DejaVu Sans"/>
              </a:rPr>
              <a:t>Rappel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282" name="TextBox 13"/>
          <p:cNvSpPr/>
          <p:nvPr/>
        </p:nvSpPr>
        <p:spPr>
          <a:xfrm>
            <a:off x="6400800" y="1874520"/>
            <a:ext cx="2603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b86b"/>
                </a:solidFill>
                <a:latin typeface="Consolas"/>
                <a:ea typeface="DejaVu Sans"/>
              </a:rPr>
              <a:t>0,923</a:t>
            </a:r>
            <a:endParaRPr b="0" lang="fr-CA" sz="4000" spc="-1" strike="noStrike">
              <a:latin typeface="Arial"/>
            </a:endParaRPr>
          </a:p>
        </p:txBody>
      </p:sp>
      <p:sp>
        <p:nvSpPr>
          <p:cNvPr id="283" name="Rounded Rectangle 14"/>
          <p:cNvSpPr/>
          <p:nvPr/>
        </p:nvSpPr>
        <p:spPr>
          <a:xfrm>
            <a:off x="9235440" y="1280160"/>
            <a:ext cx="2786400" cy="164340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4" name="TextBox 15"/>
          <p:cNvSpPr/>
          <p:nvPr/>
        </p:nvSpPr>
        <p:spPr>
          <a:xfrm>
            <a:off x="9326880" y="1417320"/>
            <a:ext cx="2603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9aa3b2"/>
                </a:solidFill>
                <a:latin typeface="Consolas"/>
                <a:ea typeface="DejaVu Sans"/>
              </a:rPr>
              <a:t>Latence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285" name="TextBox 16"/>
          <p:cNvSpPr/>
          <p:nvPr/>
        </p:nvSpPr>
        <p:spPr>
          <a:xfrm>
            <a:off x="9326880" y="1874520"/>
            <a:ext cx="2603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9aa3b2"/>
                </a:solidFill>
                <a:latin typeface="Consolas"/>
                <a:ea typeface="DejaVu Sans"/>
              </a:rPr>
              <a:t>~1 s</a:t>
            </a:r>
            <a:endParaRPr b="0" lang="fr-CA" sz="4000" spc="-1" strike="noStrike">
              <a:latin typeface="Arial"/>
            </a:endParaRPr>
          </a:p>
        </p:txBody>
      </p:sp>
      <p:sp>
        <p:nvSpPr>
          <p:cNvPr id="286" name="Rounded Rectangle 17"/>
          <p:cNvSpPr/>
          <p:nvPr/>
        </p:nvSpPr>
        <p:spPr>
          <a:xfrm>
            <a:off x="457200" y="3108960"/>
            <a:ext cx="11244600" cy="32893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7" name="TextBox 18"/>
          <p:cNvSpPr/>
          <p:nvPr/>
        </p:nvSpPr>
        <p:spPr>
          <a:xfrm>
            <a:off x="731520" y="3246120"/>
            <a:ext cx="106959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5ec8ff"/>
                </a:solidFill>
                <a:latin typeface="Calibri"/>
                <a:ea typeface="DejaVu Sans"/>
              </a:rPr>
              <a:t>Définitions (binaire : high_risk = classe positive)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288" name="TextBox 19"/>
          <p:cNvSpPr/>
          <p:nvPr/>
        </p:nvSpPr>
        <p:spPr>
          <a:xfrm>
            <a:off x="822960" y="3749040"/>
            <a:ext cx="2100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2f2f2"/>
                </a:solidFill>
                <a:latin typeface="Consolas"/>
                <a:ea typeface="DejaVu Sans"/>
              </a:rPr>
              <a:t>Précision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289" name="TextBox 20"/>
          <p:cNvSpPr/>
          <p:nvPr/>
        </p:nvSpPr>
        <p:spPr>
          <a:xfrm>
            <a:off x="3017520" y="3749040"/>
            <a:ext cx="31978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fb86b"/>
                </a:solidFill>
                <a:latin typeface="Consolas"/>
                <a:ea typeface="DejaVu Sans"/>
              </a:rPr>
              <a:t>TP / (TP + FP)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90" name="TextBox 21"/>
          <p:cNvSpPr/>
          <p:nvPr/>
        </p:nvSpPr>
        <p:spPr>
          <a:xfrm>
            <a:off x="6309360" y="3749040"/>
            <a:ext cx="53010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aa3b2"/>
                </a:solidFill>
                <a:latin typeface="Calibri"/>
                <a:ea typeface="DejaVu Sans"/>
              </a:rPr>
              <a:t>quand on alerte, à quel point on a raison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91" name="TextBox 22"/>
          <p:cNvSpPr/>
          <p:nvPr/>
        </p:nvSpPr>
        <p:spPr>
          <a:xfrm>
            <a:off x="822960" y="4206240"/>
            <a:ext cx="2100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2f2f2"/>
                </a:solidFill>
                <a:latin typeface="Consolas"/>
                <a:ea typeface="DejaVu Sans"/>
              </a:rPr>
              <a:t>Rappel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292" name="TextBox 23"/>
          <p:cNvSpPr/>
          <p:nvPr/>
        </p:nvSpPr>
        <p:spPr>
          <a:xfrm>
            <a:off x="3017520" y="4206240"/>
            <a:ext cx="31978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fb86b"/>
                </a:solidFill>
                <a:latin typeface="Consolas"/>
                <a:ea typeface="DejaVu Sans"/>
              </a:rPr>
              <a:t>TP / (TP + FN)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93" name="TextBox 24"/>
          <p:cNvSpPr/>
          <p:nvPr/>
        </p:nvSpPr>
        <p:spPr>
          <a:xfrm>
            <a:off x="6309360" y="4206240"/>
            <a:ext cx="53010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aa3b2"/>
                </a:solidFill>
                <a:latin typeface="Calibri"/>
                <a:ea typeface="DejaVu Sans"/>
              </a:rPr>
              <a:t>fraction des vraies crises attrapées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94" name="TextBox 25"/>
          <p:cNvSpPr/>
          <p:nvPr/>
        </p:nvSpPr>
        <p:spPr>
          <a:xfrm>
            <a:off x="822960" y="4663440"/>
            <a:ext cx="2100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2f2f2"/>
                </a:solidFill>
                <a:latin typeface="Consolas"/>
                <a:ea typeface="DejaVu Sans"/>
              </a:rPr>
              <a:t>F1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295" name="TextBox 26"/>
          <p:cNvSpPr/>
          <p:nvPr/>
        </p:nvSpPr>
        <p:spPr>
          <a:xfrm>
            <a:off x="3017520" y="4663440"/>
            <a:ext cx="31978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fb86b"/>
                </a:solidFill>
                <a:latin typeface="Consolas"/>
                <a:ea typeface="DejaVu Sans"/>
              </a:rPr>
              <a:t>2 · P · R / (P + R)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96" name="TextBox 27"/>
          <p:cNvSpPr/>
          <p:nvPr/>
        </p:nvSpPr>
        <p:spPr>
          <a:xfrm>
            <a:off x="6309360" y="4663440"/>
            <a:ext cx="53010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aa3b2"/>
                </a:solidFill>
                <a:latin typeface="Calibri"/>
                <a:ea typeface="DejaVu Sans"/>
              </a:rPr>
              <a:t>moyenne harmonique · pénalise les extrêmes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97" name="TextBox 28"/>
          <p:cNvSpPr/>
          <p:nvPr/>
        </p:nvSpPr>
        <p:spPr>
          <a:xfrm>
            <a:off x="822960" y="5120640"/>
            <a:ext cx="2100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2f2f2"/>
                </a:solidFill>
                <a:latin typeface="Consolas"/>
                <a:ea typeface="DejaVu Sans"/>
              </a:rPr>
              <a:t>FN  (miss)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298" name="TextBox 29"/>
          <p:cNvSpPr/>
          <p:nvPr/>
        </p:nvSpPr>
        <p:spPr>
          <a:xfrm>
            <a:off x="3017520" y="5120640"/>
            <a:ext cx="31978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fb86b"/>
                </a:solidFill>
                <a:latin typeface="Consolas"/>
                <a:ea typeface="DejaVu Sans"/>
              </a:rPr>
              <a:t>crise réelle non signalée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299" name="TextBox 30"/>
          <p:cNvSpPr/>
          <p:nvPr/>
        </p:nvSpPr>
        <p:spPr>
          <a:xfrm>
            <a:off x="6309360" y="5120640"/>
            <a:ext cx="53010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aa3b2"/>
                </a:solidFill>
                <a:latin typeface="Calibri"/>
                <a:ea typeface="DejaVu Sans"/>
              </a:rPr>
              <a:t>erreur la plus coûteuse dans ce domaine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300" name="TextBox 31"/>
          <p:cNvSpPr/>
          <p:nvPr/>
        </p:nvSpPr>
        <p:spPr>
          <a:xfrm>
            <a:off x="822960" y="5577840"/>
            <a:ext cx="2100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2f2f2"/>
                </a:solidFill>
                <a:latin typeface="Consolas"/>
                <a:ea typeface="DejaVu Sans"/>
              </a:rPr>
              <a:t>FP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301" name="TextBox 32"/>
          <p:cNvSpPr/>
          <p:nvPr/>
        </p:nvSpPr>
        <p:spPr>
          <a:xfrm>
            <a:off x="3017520" y="5577840"/>
            <a:ext cx="31978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fb86b"/>
                </a:solidFill>
                <a:latin typeface="Consolas"/>
                <a:ea typeface="DejaVu Sans"/>
              </a:rPr>
              <a:t>bénin classé high_risk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302" name="TextBox 33"/>
          <p:cNvSpPr/>
          <p:nvPr/>
        </p:nvSpPr>
        <p:spPr>
          <a:xfrm>
            <a:off x="6309360" y="5577840"/>
            <a:ext cx="53010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aa3b2"/>
                </a:solidFill>
                <a:latin typeface="Calibri"/>
                <a:ea typeface="DejaVu Sans"/>
              </a:rPr>
              <a:t>friction · perte de confiance</a:t>
            </a:r>
            <a:endParaRPr b="0" lang="fr-CA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Box 50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11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04" name="Rectangle 4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5" name="TextBox 52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06" name="TextBox 53"/>
          <p:cNvSpPr/>
          <p:nvPr/>
        </p:nvSpPr>
        <p:spPr>
          <a:xfrm>
            <a:off x="9326880" y="1417320"/>
            <a:ext cx="2603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9aa3b2"/>
                </a:solidFill>
                <a:latin typeface="Consolas"/>
                <a:ea typeface="DejaVu Sans"/>
              </a:rPr>
              <a:t>Latence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307" name="TextBox 54"/>
          <p:cNvSpPr/>
          <p:nvPr/>
        </p:nvSpPr>
        <p:spPr>
          <a:xfrm>
            <a:off x="9326880" y="1874520"/>
            <a:ext cx="2603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8" name="" descr=""/>
          <p:cNvPicPr/>
          <p:nvPr/>
        </p:nvPicPr>
        <p:blipFill>
          <a:blip r:embed="rId1"/>
          <a:stretch/>
        </p:blipFill>
        <p:spPr>
          <a:xfrm>
            <a:off x="3411720" y="507600"/>
            <a:ext cx="4810320" cy="5972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Box 44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11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10" name="TextBox 48"/>
          <p:cNvSpPr/>
          <p:nvPr/>
        </p:nvSpPr>
        <p:spPr>
          <a:xfrm>
            <a:off x="720000" y="2880000"/>
            <a:ext cx="1097028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                      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FIN présentation technique</a:t>
            </a:r>
            <a:endParaRPr b="0" lang="fr-CA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                                 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Questions ?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311" name="Rectangle 2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2" name="TextBox 49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</a:t>
            </a: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13" name="TextBox 56"/>
          <p:cNvSpPr/>
          <p:nvPr/>
        </p:nvSpPr>
        <p:spPr>
          <a:xfrm>
            <a:off x="9326880" y="1417320"/>
            <a:ext cx="2603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Box 57"/>
          <p:cNvSpPr/>
          <p:nvPr/>
        </p:nvSpPr>
        <p:spPr>
          <a:xfrm>
            <a:off x="9326880" y="1874520"/>
            <a:ext cx="2603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Box 55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11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16" name="TextBox 58"/>
          <p:cNvSpPr/>
          <p:nvPr/>
        </p:nvSpPr>
        <p:spPr>
          <a:xfrm>
            <a:off x="720000" y="2880000"/>
            <a:ext cx="1097028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               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               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  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POST </a:t>
            </a: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MORTEM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317" name="Rectangle 5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8" name="TextBox 59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19" name="TextBox 60"/>
          <p:cNvSpPr/>
          <p:nvPr/>
        </p:nvSpPr>
        <p:spPr>
          <a:xfrm>
            <a:off x="9326880" y="1417320"/>
            <a:ext cx="2603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Box 61"/>
          <p:cNvSpPr/>
          <p:nvPr/>
        </p:nvSpPr>
        <p:spPr>
          <a:xfrm>
            <a:off x="9326880" y="1874520"/>
            <a:ext cx="2603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96;p14"/>
          <p:cNvSpPr/>
          <p:nvPr/>
        </p:nvSpPr>
        <p:spPr>
          <a:xfrm>
            <a:off x="425520" y="-914400"/>
            <a:ext cx="610452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Google Shape;397;p14"/>
          <p:cNvSpPr/>
          <p:nvPr/>
        </p:nvSpPr>
        <p:spPr>
          <a:xfrm>
            <a:off x="457200" y="1371600"/>
            <a:ext cx="5347440" cy="928440"/>
          </a:xfrm>
          <a:prstGeom prst="rect">
            <a:avLst/>
          </a:prstGeom>
          <a:solidFill>
            <a:srgbClr val="1a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CA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Simple &gt; Complexe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Les poids statiques (0,4 / 0,6) battent les seuils adaptatifs,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les méta-apprenants et les cascades.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23" name="Google Shape;398;p14"/>
          <p:cNvSpPr/>
          <p:nvPr/>
        </p:nvSpPr>
        <p:spPr>
          <a:xfrm>
            <a:off x="6263640" y="1371600"/>
            <a:ext cx="5347440" cy="928440"/>
          </a:xfrm>
          <a:prstGeom prst="rect">
            <a:avLst/>
          </a:prstGeom>
          <a:solidFill>
            <a:srgbClr val="1a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CA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Le seed de validation est trompeur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Fuite de données : les patterns du seed ne prédisent pas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la performance sur le set caché.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24" name="Google Shape;399;p14"/>
          <p:cNvSpPr/>
          <p:nvPr/>
        </p:nvSpPr>
        <p:spPr>
          <a:xfrm>
            <a:off x="457200" y="3108960"/>
            <a:ext cx="5347440" cy="1110960"/>
          </a:xfrm>
          <a:prstGeom prst="rect">
            <a:avLst/>
          </a:prstGeom>
          <a:solidFill>
            <a:srgbClr val="1a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CA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Ré-entraîner empire toujours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5 tentatives de ré-entraînement (nouvelles données, autres modèles)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— </a:t>
            </a: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toutes dégradent le score sur le set caché.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25" name="Google Shape;400;p14"/>
          <p:cNvSpPr/>
          <p:nvPr/>
        </p:nvSpPr>
        <p:spPr>
          <a:xfrm>
            <a:off x="6263640" y="3108960"/>
            <a:ext cx="5347440" cy="928440"/>
          </a:xfrm>
          <a:prstGeom prst="rect">
            <a:avLst/>
          </a:prstGeom>
          <a:solidFill>
            <a:srgbClr val="1a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CA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Les changements de prompt sont fragiles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Chaque ajout risque d'effondrer la précision ;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seuls des ajustements minimaux ont aidé.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26" name="Google Shape;401;p14"/>
          <p:cNvSpPr/>
          <p:nvPr/>
        </p:nvSpPr>
        <p:spPr>
          <a:xfrm>
            <a:off x="457200" y="4846320"/>
            <a:ext cx="11153880" cy="928440"/>
          </a:xfrm>
          <a:prstGeom prst="rect">
            <a:avLst/>
          </a:prstGeom>
          <a:solidFill>
            <a:srgbClr val="1a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CA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Le vrai différenciateur est la qualité du prompt, pas l'architecture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Les équipes en tête utilisent les mêmes LLM que nous —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leurs prompts sont mieux calibrés.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27" name="TextBox 258"/>
          <p:cNvSpPr/>
          <p:nvPr/>
        </p:nvSpPr>
        <p:spPr>
          <a:xfrm>
            <a:off x="987480" y="320040"/>
            <a:ext cx="7664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14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28" name="TextBox 259"/>
          <p:cNvSpPr/>
          <p:nvPr/>
        </p:nvSpPr>
        <p:spPr>
          <a:xfrm>
            <a:off x="2831400" y="502920"/>
            <a:ext cx="6222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2800" spc="-1" strike="noStrike">
                <a:solidFill>
                  <a:srgbClr val="f2f2f2"/>
                </a:solidFill>
                <a:latin typeface="Arial"/>
                <a:ea typeface="DejaVu Sans"/>
              </a:rPr>
              <a:t>Ce qu'on a appris · 30+ expériences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329" name="Rectangle 260"/>
          <p:cNvSpPr/>
          <p:nvPr/>
        </p:nvSpPr>
        <p:spPr>
          <a:xfrm>
            <a:off x="457200" y="960120"/>
            <a:ext cx="546840" cy="5292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0" name="TextBox 261"/>
          <p:cNvSpPr/>
          <p:nvPr/>
        </p:nvSpPr>
        <p:spPr>
          <a:xfrm>
            <a:off x="10554480" y="320040"/>
            <a:ext cx="1017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489;g3d1b0e28214_0_23"/>
          <p:cNvSpPr/>
          <p:nvPr/>
        </p:nvSpPr>
        <p:spPr>
          <a:xfrm>
            <a:off x="463680" y="-914400"/>
            <a:ext cx="1126188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Google Shape;490;g3d1b0e28214_0_23"/>
          <p:cNvSpPr/>
          <p:nvPr/>
        </p:nvSpPr>
        <p:spPr>
          <a:xfrm>
            <a:off x="457200" y="1371600"/>
            <a:ext cx="5347440" cy="1506960"/>
          </a:xfrm>
          <a:prstGeom prst="rect">
            <a:avLst/>
          </a:prstGeom>
          <a:solidFill>
            <a:srgbClr val="1a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CA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890 exemples d'entraînement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EN : 501  ·  FR : 385  ·  mixte : 4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Couverture bilingue équilibrée sur les niveaux de risque.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33" name="Google Shape;491;g3d1b0e28214_0_23"/>
          <p:cNvSpPr/>
          <p:nvPr/>
        </p:nvSpPr>
        <p:spPr>
          <a:xfrm>
            <a:off x="6263640" y="1371600"/>
            <a:ext cx="5347440" cy="1506960"/>
          </a:xfrm>
          <a:prstGeom prst="rect">
            <a:avLst/>
          </a:prstGeom>
          <a:solidFill>
            <a:srgbClr val="1a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CA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260 cas annotés par experts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Tous high_risk, 26 catégories adversariales :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slang, code-switching, sarcasme, signaux culturels.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34" name="Google Shape;492;g3d1b0e28214_0_23"/>
          <p:cNvSpPr/>
          <p:nvPr/>
        </p:nvSpPr>
        <p:spPr>
          <a:xfrm>
            <a:off x="457200" y="3017520"/>
            <a:ext cx="5347440" cy="1506960"/>
          </a:xfrm>
          <a:prstGeom prst="rect">
            <a:avLst/>
          </a:prstGeom>
          <a:solidFill>
            <a:srgbClr val="1a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CA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6 catégories DEI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2ELGBTQ+, Autochtones, Nouveaux arrivants,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Neurodivergents, jeunes racisés, en famille d'accueil.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35" name="Google Shape;493;g3d1b0e28214_0_23"/>
          <p:cNvSpPr/>
          <p:nvPr/>
        </p:nvSpPr>
        <p:spPr>
          <a:xfrm>
            <a:off x="6263640" y="3017520"/>
            <a:ext cx="5347440" cy="1506960"/>
          </a:xfrm>
          <a:prstGeom prst="rect">
            <a:avLst/>
          </a:prstGeom>
          <a:solidFill>
            <a:srgbClr val="1a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CA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Qualité d'annotation humaine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Chaque ligne porte une catégorie, un niveau de risque et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une étiquette de langue — aucune donnée non annotée.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36" name="Google Shape;494;g3d1b0e28214_0_23"/>
          <p:cNvSpPr/>
          <p:nvPr/>
        </p:nvSpPr>
        <p:spPr>
          <a:xfrm>
            <a:off x="457200" y="4663440"/>
            <a:ext cx="5347440" cy="1506960"/>
          </a:xfrm>
          <a:prstGeom prst="rect">
            <a:avLst/>
          </a:prstGeom>
          <a:solidFill>
            <a:srgbClr val="1a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CA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36 cas limites adversariaux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Slang québécois, dérive graduelle, faux positifs culturels,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escalade soudaine — les angles morts du KHP.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37" name="Google Shape;495;g3d1b0e28214_0_23"/>
          <p:cNvSpPr/>
          <p:nvPr/>
        </p:nvSpPr>
        <p:spPr>
          <a:xfrm>
            <a:off x="6263640" y="4663440"/>
            <a:ext cx="5347440" cy="1506960"/>
          </a:xfrm>
          <a:prstGeom prst="rect">
            <a:avLst/>
          </a:prstGeom>
          <a:solidFill>
            <a:srgbClr val="1a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CA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94 échantillons de validation</a:t>
            </a:r>
            <a:endParaRPr b="0" lang="fr-CA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Held-out pour le tuning ; performance réelle évaluée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CA" sz="1200" spc="-1" strike="noStrike">
                <a:solidFill>
                  <a:srgbClr val="f2f2f2"/>
                </a:solidFill>
                <a:latin typeface="Calibri"/>
                <a:ea typeface="DejaVu Sans"/>
              </a:rPr>
              <a:t>sur le set caché de 102 échantillons (F1 = 0,876).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38" name="TextBox 271"/>
          <p:cNvSpPr/>
          <p:nvPr/>
        </p:nvSpPr>
        <p:spPr>
          <a:xfrm>
            <a:off x="987480" y="320040"/>
            <a:ext cx="7664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15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39" name="TextBox 272"/>
          <p:cNvSpPr/>
          <p:nvPr/>
        </p:nvSpPr>
        <p:spPr>
          <a:xfrm>
            <a:off x="1955880" y="502920"/>
            <a:ext cx="79732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fr-CA" sz="2800" spc="-1" strike="noStrike">
                <a:solidFill>
                  <a:srgbClr val="f2f2f2"/>
                </a:solidFill>
                <a:latin typeface="Arial"/>
                <a:ea typeface="DejaVu Sans"/>
              </a:rPr>
              <a:t>Données d'entraînement · sécurité et diversité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340" name="Rectangle 273"/>
          <p:cNvSpPr/>
          <p:nvPr/>
        </p:nvSpPr>
        <p:spPr>
          <a:xfrm>
            <a:off x="457200" y="960120"/>
            <a:ext cx="546840" cy="5292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1" name="TextBox 274"/>
          <p:cNvSpPr/>
          <p:nvPr/>
        </p:nvSpPr>
        <p:spPr>
          <a:xfrm>
            <a:off x="10554480" y="320040"/>
            <a:ext cx="1017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fr-CA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17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43" name="TextBox 2"/>
          <p:cNvSpPr/>
          <p:nvPr/>
        </p:nvSpPr>
        <p:spPr>
          <a:xfrm>
            <a:off x="457200" y="502920"/>
            <a:ext cx="1097028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Décisions de design · justifications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344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5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46" name="Rounded Rectangle 5"/>
          <p:cNvSpPr/>
          <p:nvPr/>
        </p:nvSpPr>
        <p:spPr>
          <a:xfrm>
            <a:off x="457200" y="1280160"/>
            <a:ext cx="5666760" cy="15976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7" name="TextBox 6"/>
          <p:cNvSpPr/>
          <p:nvPr/>
        </p:nvSpPr>
        <p:spPr>
          <a:xfrm>
            <a:off x="640080" y="1371600"/>
            <a:ext cx="5301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Pourquoi mmBERT (et pas XLM-R)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348" name="TextBox 7"/>
          <p:cNvSpPr/>
          <p:nvPr/>
        </p:nvSpPr>
        <p:spPr>
          <a:xfrm>
            <a:off x="640080" y="1828800"/>
            <a:ext cx="530100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archi ModernBERT · RoPE + flash-attn · meilleur sur textes courts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multilingue FR/EN nativement · tient en 512 tokens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49" name="Rounded Rectangle 8"/>
          <p:cNvSpPr/>
          <p:nvPr/>
        </p:nvSpPr>
        <p:spPr>
          <a:xfrm>
            <a:off x="6309360" y="1280160"/>
            <a:ext cx="5666760" cy="15976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0" name="TextBox 9"/>
          <p:cNvSpPr/>
          <p:nvPr/>
        </p:nvSpPr>
        <p:spPr>
          <a:xfrm>
            <a:off x="6492240" y="1371600"/>
            <a:ext cx="5301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Pourquoi un juge LLM en plus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351" name="TextBox 10"/>
          <p:cNvSpPr/>
          <p:nvPr/>
        </p:nvSpPr>
        <p:spPr>
          <a:xfrm>
            <a:off x="6492240" y="1828800"/>
            <a:ext cx="530100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BERT rate les signaux implicites (détresse voilée, escalade)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LLM capte la sémantique · BERT capte les patterns lexicaux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52" name="Rounded Rectangle 11"/>
          <p:cNvSpPr/>
          <p:nvPr/>
        </p:nvSpPr>
        <p:spPr>
          <a:xfrm>
            <a:off x="457200" y="3017520"/>
            <a:ext cx="5666760" cy="15976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3" name="TextBox 12"/>
          <p:cNvSpPr/>
          <p:nvPr/>
        </p:nvSpPr>
        <p:spPr>
          <a:xfrm>
            <a:off x="640080" y="3108960"/>
            <a:ext cx="5301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Pourquoi 0,4 / 0,6  (LLM plus lourd)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354" name="TextBox 13"/>
          <p:cNvSpPr/>
          <p:nvPr/>
        </p:nvSpPr>
        <p:spPr>
          <a:xfrm>
            <a:off x="640080" y="3566160"/>
            <a:ext cx="53010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grid search sur held-out · LLM mieux calibré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mBERT comme régularisateur contre hallucinations LLM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55" name="Rounded Rectangle 14"/>
          <p:cNvSpPr/>
          <p:nvPr/>
        </p:nvSpPr>
        <p:spPr>
          <a:xfrm>
            <a:off x="6309360" y="3017520"/>
            <a:ext cx="5666760" cy="15976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6" name="TextBox 15"/>
          <p:cNvSpPr/>
          <p:nvPr/>
        </p:nvSpPr>
        <p:spPr>
          <a:xfrm>
            <a:off x="6492240" y="3108960"/>
            <a:ext cx="5301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Pourquoi seuil 0,50 (pas plus bas)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357" name="TextBox 16"/>
          <p:cNvSpPr/>
          <p:nvPr/>
        </p:nvSpPr>
        <p:spPr>
          <a:xfrm>
            <a:off x="6492240" y="3566160"/>
            <a:ext cx="53010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plus bas → la précision s'effondre · bruit FP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Gate 12 couvre déjà les rares cas haut-rappel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58" name="Rounded Rectangle 17"/>
          <p:cNvSpPr/>
          <p:nvPr/>
        </p:nvSpPr>
        <p:spPr>
          <a:xfrm>
            <a:off x="457200" y="4754880"/>
            <a:ext cx="5666760" cy="15976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9" name="TextBox 18"/>
          <p:cNvSpPr/>
          <p:nvPr/>
        </p:nvSpPr>
        <p:spPr>
          <a:xfrm>
            <a:off x="640080" y="4846320"/>
            <a:ext cx="5301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Pourquoi Gate 12 seule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360" name="TextBox 19"/>
          <p:cNvSpPr/>
          <p:nvPr/>
        </p:nvSpPr>
        <p:spPr>
          <a:xfrm>
            <a:off x="640080" y="5303520"/>
            <a:ext cx="53010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12 gates testés · les autres neutres sur les 102 samples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moyen/méthode = signal clinique le plus fort (lit. SPI)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61" name="Rounded Rectangle 20"/>
          <p:cNvSpPr/>
          <p:nvPr/>
        </p:nvSpPr>
        <p:spPr>
          <a:xfrm>
            <a:off x="6309360" y="4754880"/>
            <a:ext cx="5666760" cy="15976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2" name="TextBox 21"/>
          <p:cNvSpPr/>
          <p:nvPr/>
        </p:nvSpPr>
        <p:spPr>
          <a:xfrm>
            <a:off x="6492240" y="4846320"/>
            <a:ext cx="5301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ec8ff"/>
                </a:solidFill>
                <a:latin typeface="Calibri"/>
                <a:ea typeface="DejaVu Sans"/>
              </a:rPr>
              <a:t>Pourquoi le re-training n'a pas aidé</a:t>
            </a:r>
            <a:endParaRPr b="0" lang="fr-CA" sz="1400" spc="-1" strike="noStrike">
              <a:latin typeface="Arial"/>
            </a:endParaRPr>
          </a:p>
        </p:txBody>
      </p:sp>
      <p:sp>
        <p:nvSpPr>
          <p:cNvPr id="363" name="TextBox 22"/>
          <p:cNvSpPr/>
          <p:nvPr/>
        </p:nvSpPr>
        <p:spPr>
          <a:xfrm>
            <a:off x="6492240" y="5303520"/>
            <a:ext cx="530100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les 784 originaux sont bien alignés avec la distribution cachée</a:t>
            </a:r>
            <a:endParaRPr b="0" lang="fr-CA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plus de données = dilution · risque d'overfit sur val visible</a:t>
            </a:r>
            <a:endParaRPr b="0" lang="fr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16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65" name="TextBox 2"/>
          <p:cNvSpPr/>
          <p:nvPr/>
        </p:nvSpPr>
        <p:spPr>
          <a:xfrm>
            <a:off x="457200" y="502920"/>
            <a:ext cx="1097028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Expérimentation · ce qu'on a essayé (30+ runs)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366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7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68" name="Rounded Rectangle 5"/>
          <p:cNvSpPr/>
          <p:nvPr/>
        </p:nvSpPr>
        <p:spPr>
          <a:xfrm>
            <a:off x="457200" y="1280160"/>
            <a:ext cx="1124460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9" name="TextBox 6"/>
          <p:cNvSpPr/>
          <p:nvPr/>
        </p:nvSpPr>
        <p:spPr>
          <a:xfrm>
            <a:off x="731520" y="146304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axe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70" name="TextBox 7"/>
          <p:cNvSpPr/>
          <p:nvPr/>
        </p:nvSpPr>
        <p:spPr>
          <a:xfrm>
            <a:off x="3108960" y="1463040"/>
            <a:ext cx="47523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essayé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71" name="TextBox 8"/>
          <p:cNvSpPr/>
          <p:nvPr/>
        </p:nvSpPr>
        <p:spPr>
          <a:xfrm>
            <a:off x="7863840" y="1463040"/>
            <a:ext cx="2100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gagnant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72" name="TextBox 9"/>
          <p:cNvSpPr/>
          <p:nvPr/>
        </p:nvSpPr>
        <p:spPr>
          <a:xfrm>
            <a:off x="9966960" y="1463040"/>
            <a:ext cx="1551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Δ F1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73" name="TextBox 10"/>
          <p:cNvSpPr/>
          <p:nvPr/>
        </p:nvSpPr>
        <p:spPr>
          <a:xfrm>
            <a:off x="731520" y="187452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architecture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74" name="TextBox 11"/>
          <p:cNvSpPr/>
          <p:nvPr/>
        </p:nvSpPr>
        <p:spPr>
          <a:xfrm>
            <a:off x="3108960" y="1874520"/>
            <a:ext cx="47523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OR-stack, zones, cascade, max, fusion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75" name="TextBox 12"/>
          <p:cNvSpPr/>
          <p:nvPr/>
        </p:nvSpPr>
        <p:spPr>
          <a:xfrm>
            <a:off x="7863840" y="1874520"/>
            <a:ext cx="210060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ec8ff"/>
                </a:solidFill>
                <a:latin typeface="Consolas"/>
                <a:ea typeface="DejaVu Sans"/>
              </a:rPr>
              <a:t>fusion complète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76" name="TextBox 13"/>
          <p:cNvSpPr/>
          <p:nvPr/>
        </p:nvSpPr>
        <p:spPr>
          <a:xfrm>
            <a:off x="9966960" y="1874520"/>
            <a:ext cx="15519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0,876 (best)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77" name="TextBox 14"/>
          <p:cNvSpPr/>
          <p:nvPr/>
        </p:nvSpPr>
        <p:spPr>
          <a:xfrm>
            <a:off x="731520" y="225864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fournisseur LLM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78" name="TextBox 15"/>
          <p:cNvSpPr/>
          <p:nvPr/>
        </p:nvSpPr>
        <p:spPr>
          <a:xfrm>
            <a:off x="3108960" y="2258640"/>
            <a:ext cx="47523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Mistral, Cohere, GPT-OSS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79" name="TextBox 16"/>
          <p:cNvSpPr/>
          <p:nvPr/>
        </p:nvSpPr>
        <p:spPr>
          <a:xfrm>
            <a:off x="7863840" y="2258640"/>
            <a:ext cx="210060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ec8ff"/>
                </a:solidFill>
                <a:latin typeface="Consolas"/>
                <a:ea typeface="DejaVu Sans"/>
              </a:rPr>
              <a:t>Mistral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80" name="TextBox 17"/>
          <p:cNvSpPr/>
          <p:nvPr/>
        </p:nvSpPr>
        <p:spPr>
          <a:xfrm>
            <a:off x="9966960" y="2258640"/>
            <a:ext cx="15519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—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81" name="TextBox 18"/>
          <p:cNvSpPr/>
          <p:nvPr/>
        </p:nvSpPr>
        <p:spPr>
          <a:xfrm>
            <a:off x="731520" y="264276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LLM seul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82" name="TextBox 19"/>
          <p:cNvSpPr/>
          <p:nvPr/>
        </p:nvSpPr>
        <p:spPr>
          <a:xfrm>
            <a:off x="3108960" y="2642760"/>
            <a:ext cx="47523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Mistral seul (seuils variés)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83" name="TextBox 20"/>
          <p:cNvSpPr/>
          <p:nvPr/>
        </p:nvSpPr>
        <p:spPr>
          <a:xfrm>
            <a:off x="7863840" y="2642760"/>
            <a:ext cx="210060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ec8ff"/>
                </a:solidFill>
                <a:latin typeface="Consolas"/>
                <a:ea typeface="DejaVu Sans"/>
              </a:rPr>
              <a:t>—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84" name="TextBox 21"/>
          <p:cNvSpPr/>
          <p:nvPr/>
        </p:nvSpPr>
        <p:spPr>
          <a:xfrm>
            <a:off x="9966960" y="2642760"/>
            <a:ext cx="15519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0,833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85" name="TextBox 22"/>
          <p:cNvSpPr/>
          <p:nvPr/>
        </p:nvSpPr>
        <p:spPr>
          <a:xfrm>
            <a:off x="731520" y="302652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encodeur de base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86" name="TextBox 23"/>
          <p:cNvSpPr/>
          <p:nvPr/>
        </p:nvSpPr>
        <p:spPr>
          <a:xfrm>
            <a:off x="3108960" y="3026520"/>
            <a:ext cx="47523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mBERT v2-v5, XLM-R, mDeBERTa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87" name="TextBox 24"/>
          <p:cNvSpPr/>
          <p:nvPr/>
        </p:nvSpPr>
        <p:spPr>
          <a:xfrm>
            <a:off x="7863840" y="3026520"/>
            <a:ext cx="210060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ec8ff"/>
                </a:solidFill>
                <a:latin typeface="Consolas"/>
                <a:ea typeface="DejaVu Sans"/>
              </a:rPr>
              <a:t>mBERT original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88" name="TextBox 25"/>
          <p:cNvSpPr/>
          <p:nvPr/>
        </p:nvSpPr>
        <p:spPr>
          <a:xfrm>
            <a:off x="9966960" y="3026520"/>
            <a:ext cx="15519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tous pires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89" name="TextBox 26"/>
          <p:cNvSpPr/>
          <p:nvPr/>
        </p:nvSpPr>
        <p:spPr>
          <a:xfrm>
            <a:off x="731520" y="341064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données d'entr.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90" name="TextBox 27"/>
          <p:cNvSpPr/>
          <p:nvPr/>
        </p:nvSpPr>
        <p:spPr>
          <a:xfrm>
            <a:off x="3108960" y="3410640"/>
            <a:ext cx="47523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+ Blue Mission (1 037)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91" name="TextBox 28"/>
          <p:cNvSpPr/>
          <p:nvPr/>
        </p:nvSpPr>
        <p:spPr>
          <a:xfrm>
            <a:off x="7863840" y="3410640"/>
            <a:ext cx="210060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ec8ff"/>
                </a:solidFill>
                <a:latin typeface="Consolas"/>
                <a:ea typeface="DejaVu Sans"/>
              </a:rPr>
              <a:t>784 original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92" name="TextBox 29"/>
          <p:cNvSpPr/>
          <p:nvPr/>
        </p:nvSpPr>
        <p:spPr>
          <a:xfrm>
            <a:off x="9966960" y="3410640"/>
            <a:ext cx="15519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0,859 / 0,857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93" name="TextBox 30"/>
          <p:cNvSpPr/>
          <p:nvPr/>
        </p:nvSpPr>
        <p:spPr>
          <a:xfrm>
            <a:off x="731520" y="379476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prompt eng.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94" name="TextBox 31"/>
          <p:cNvSpPr/>
          <p:nvPr/>
        </p:nvSpPr>
        <p:spPr>
          <a:xfrm>
            <a:off x="3108960" y="3794760"/>
            <a:ext cx="47523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+signaux, CoT, taxonomie, décisif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95" name="TextBox 32"/>
          <p:cNvSpPr/>
          <p:nvPr/>
        </p:nvSpPr>
        <p:spPr>
          <a:xfrm>
            <a:off x="7863840" y="3794760"/>
            <a:ext cx="210060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ec8ff"/>
                </a:solidFill>
                <a:latin typeface="Consolas"/>
                <a:ea typeface="DejaVu Sans"/>
              </a:rPr>
              <a:t>ajustement minimal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96" name="TextBox 33"/>
          <p:cNvSpPr/>
          <p:nvPr/>
        </p:nvSpPr>
        <p:spPr>
          <a:xfrm>
            <a:off x="9966960" y="3794760"/>
            <a:ext cx="15519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+0,002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97" name="TextBox 34"/>
          <p:cNvSpPr/>
          <p:nvPr/>
        </p:nvSpPr>
        <p:spPr>
          <a:xfrm>
            <a:off x="731520" y="417888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gates d'override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398" name="TextBox 35"/>
          <p:cNvSpPr/>
          <p:nvPr/>
        </p:nvSpPr>
        <p:spPr>
          <a:xfrm>
            <a:off x="3108960" y="4178880"/>
            <a:ext cx="47523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Gates 5,6,9,11,12,13,20,36,37,49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399" name="TextBox 36"/>
          <p:cNvSpPr/>
          <p:nvPr/>
        </p:nvSpPr>
        <p:spPr>
          <a:xfrm>
            <a:off x="7863840" y="4178880"/>
            <a:ext cx="210060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ec8ff"/>
                </a:solidFill>
                <a:latin typeface="Consolas"/>
                <a:ea typeface="DejaVu Sans"/>
              </a:rPr>
              <a:t>Gate 12 seul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400" name="TextBox 37"/>
          <p:cNvSpPr/>
          <p:nvPr/>
        </p:nvSpPr>
        <p:spPr>
          <a:xfrm>
            <a:off x="9966960" y="4178880"/>
            <a:ext cx="15519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+0,002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401" name="TextBox 38"/>
          <p:cNvSpPr/>
          <p:nvPr/>
        </p:nvSpPr>
        <p:spPr>
          <a:xfrm>
            <a:off x="731520" y="4563000"/>
            <a:ext cx="237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2f2f2"/>
                </a:solidFill>
                <a:latin typeface="Consolas"/>
                <a:ea typeface="DejaVu Sans"/>
              </a:rPr>
              <a:t>seuil / poids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402" name="TextBox 39"/>
          <p:cNvSpPr/>
          <p:nvPr/>
        </p:nvSpPr>
        <p:spPr>
          <a:xfrm>
            <a:off x="3108960" y="4563000"/>
            <a:ext cx="47523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0,46 · 0,48 · 0,35 · flip 0,6/0,4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403" name="TextBox 40"/>
          <p:cNvSpPr/>
          <p:nvPr/>
        </p:nvSpPr>
        <p:spPr>
          <a:xfrm>
            <a:off x="7863840" y="4563000"/>
            <a:ext cx="210060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ec8ff"/>
                </a:solidFill>
                <a:latin typeface="Consolas"/>
                <a:ea typeface="DejaVu Sans"/>
              </a:rPr>
              <a:t>0,50  ·  (0,4, 0,6)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404" name="TextBox 41"/>
          <p:cNvSpPr/>
          <p:nvPr/>
        </p:nvSpPr>
        <p:spPr>
          <a:xfrm>
            <a:off x="9966960" y="4563000"/>
            <a:ext cx="15519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b86b"/>
                </a:solidFill>
                <a:latin typeface="Consolas"/>
                <a:ea typeface="DejaVu Sans"/>
              </a:rPr>
              <a:t>best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405" name="TextBox 42"/>
          <p:cNvSpPr/>
          <p:nvPr/>
        </p:nvSpPr>
        <p:spPr>
          <a:xfrm>
            <a:off x="731520" y="5083920"/>
            <a:ext cx="109702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6be0a5"/>
                </a:solidFill>
                <a:latin typeface="Calibri"/>
                <a:ea typeface="DejaVu Sans"/>
              </a:rPr>
              <a:t>⇒ </a:t>
            </a:r>
            <a:r>
              <a:rPr b="1" lang="en-US" sz="1400" spc="-1" strike="noStrike">
                <a:solidFill>
                  <a:srgbClr val="6be0a5"/>
                </a:solidFill>
                <a:latin typeface="Calibri"/>
                <a:ea typeface="DejaVu Sans"/>
              </a:rPr>
              <a:t>fusion de scores continus &gt; stacks binaires   ·   la qualité du prompt est le vrai différenciateur</a:t>
            </a:r>
            <a:endParaRPr b="0" lang="fr-CA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18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407" name="TextBox 2"/>
          <p:cNvSpPr/>
          <p:nvPr/>
        </p:nvSpPr>
        <p:spPr>
          <a:xfrm>
            <a:off x="457200" y="502920"/>
            <a:ext cx="1097028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Limites · et prochaines étapes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408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9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410" name="Rounded Rectangle 5"/>
          <p:cNvSpPr/>
          <p:nvPr/>
        </p:nvSpPr>
        <p:spPr>
          <a:xfrm>
            <a:off x="457200" y="1280160"/>
            <a:ext cx="557532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1" name="TextBox 6"/>
          <p:cNvSpPr/>
          <p:nvPr/>
        </p:nvSpPr>
        <p:spPr>
          <a:xfrm>
            <a:off x="640080" y="1417320"/>
            <a:ext cx="52095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7a7a"/>
                </a:solidFill>
                <a:latin typeface="Calibri"/>
                <a:ea typeface="DejaVu Sans"/>
              </a:rPr>
              <a:t>Limites connues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412" name="TextBox 7"/>
          <p:cNvSpPr/>
          <p:nvPr/>
        </p:nvSpPr>
        <p:spPr>
          <a:xfrm>
            <a:off x="640080" y="1920240"/>
            <a:ext cx="5209560" cy="32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latence ≈ 1 s  (API Mistral dominante)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dépendance runtime à BUZZ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(pas d'API externe à l'éval)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fuite du seed dans le training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(94 échantillons) — assumée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biais des données synthétiques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(la plupart hors-seed via Claude)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prompt en équilibre fragile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(±1 exemple = ±0,01 F1)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troncation 512 tokens sur les longues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conversations multi-tours</a:t>
            </a:r>
            <a:endParaRPr b="0" lang="fr-CA" sz="1300" spc="-1" strike="noStrike">
              <a:latin typeface="Arial"/>
            </a:endParaRPr>
          </a:p>
        </p:txBody>
      </p:sp>
      <p:sp>
        <p:nvSpPr>
          <p:cNvPr id="413" name="Rounded Rectangle 8"/>
          <p:cNvSpPr/>
          <p:nvPr/>
        </p:nvSpPr>
        <p:spPr>
          <a:xfrm>
            <a:off x="6217920" y="1280160"/>
            <a:ext cx="5575320" cy="511812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4" name="TextBox 9"/>
          <p:cNvSpPr/>
          <p:nvPr/>
        </p:nvSpPr>
        <p:spPr>
          <a:xfrm>
            <a:off x="6400800" y="1417320"/>
            <a:ext cx="52095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6be0a5"/>
                </a:solidFill>
                <a:latin typeface="Calibri"/>
                <a:ea typeface="DejaVu Sans"/>
              </a:rPr>
              <a:t>Prochaines étapes</a:t>
            </a:r>
            <a:endParaRPr b="0" lang="fr-CA" sz="1600" spc="-1" strike="noStrike">
              <a:latin typeface="Arial"/>
            </a:endParaRPr>
          </a:p>
        </p:txBody>
      </p:sp>
      <p:sp>
        <p:nvSpPr>
          <p:cNvPr id="415" name="TextBox 10"/>
          <p:cNvSpPr/>
          <p:nvPr/>
        </p:nvSpPr>
        <p:spPr>
          <a:xfrm>
            <a:off x="6400800" y="1920240"/>
            <a:ext cx="5209560" cy="28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distiller le juge Mistral dans un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mmBERT plus gros → latence réduite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calibration · Platt scaling ou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temperature scaling sur fused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encodeur multi-tours conscient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(fenêtre glissante, pooling hiérarch.)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active learning sur les slices FN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(slang QC, affect plat neurodivergent)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seuils par catégorie</a:t>
            </a:r>
            <a:endParaRPr b="0" lang="fr-CA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f2f2f2"/>
                </a:solidFill>
                <a:latin typeface="Calibri"/>
                <a:ea typeface="DejaVu Sans"/>
              </a:rPr>
              <a:t>(audit d'équité DEI)</a:t>
            </a:r>
            <a:endParaRPr b="0" lang="fr-CA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Box 1"/>
          <p:cNvSpPr/>
          <p:nvPr/>
        </p:nvSpPr>
        <p:spPr>
          <a:xfrm>
            <a:off x="457200" y="320040"/>
            <a:ext cx="18262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19 / 19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417" name="TextBox 2"/>
          <p:cNvSpPr/>
          <p:nvPr/>
        </p:nvSpPr>
        <p:spPr>
          <a:xfrm>
            <a:off x="457200" y="502920"/>
            <a:ext cx="1097028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2f2f2"/>
                </a:solidFill>
                <a:latin typeface="Calibri"/>
                <a:ea typeface="DejaVu Sans"/>
              </a:rPr>
              <a:t>À retenir</a:t>
            </a:r>
            <a:endParaRPr b="0" lang="fr-CA" sz="2800" spc="-1" strike="noStrike">
              <a:latin typeface="Arial"/>
            </a:endParaRPr>
          </a:p>
        </p:txBody>
      </p:sp>
      <p:sp>
        <p:nvSpPr>
          <p:cNvPr id="418" name="Rectangle 3"/>
          <p:cNvSpPr/>
          <p:nvPr/>
        </p:nvSpPr>
        <p:spPr>
          <a:xfrm>
            <a:off x="457200" y="960120"/>
            <a:ext cx="546120" cy="52200"/>
          </a:xfrm>
          <a:prstGeom prst="rect">
            <a:avLst/>
          </a:prstGeom>
          <a:solidFill>
            <a:srgbClr val="5e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9" name="TextBox 4"/>
          <p:cNvSpPr/>
          <p:nvPr/>
        </p:nvSpPr>
        <p:spPr>
          <a:xfrm>
            <a:off x="10332720" y="320040"/>
            <a:ext cx="14605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aa3b2"/>
                </a:solidFill>
                <a:latin typeface="Consolas"/>
                <a:ea typeface="DejaVu Sans"/>
              </a:rPr>
              <a:t>Équipe 021</a:t>
            </a:r>
            <a:endParaRPr b="0" lang="fr-CA" sz="1100" spc="-1" strike="noStrike">
              <a:latin typeface="Arial"/>
            </a:endParaRPr>
          </a:p>
        </p:txBody>
      </p:sp>
      <p:sp>
        <p:nvSpPr>
          <p:cNvPr id="420" name="Rounded Rectangle 5"/>
          <p:cNvSpPr/>
          <p:nvPr/>
        </p:nvSpPr>
        <p:spPr>
          <a:xfrm>
            <a:off x="457200" y="1280160"/>
            <a:ext cx="11244600" cy="9118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1" name="TextBox 6"/>
          <p:cNvSpPr/>
          <p:nvPr/>
        </p:nvSpPr>
        <p:spPr>
          <a:xfrm>
            <a:off x="640080" y="1508760"/>
            <a:ext cx="9118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5ec8ff"/>
                </a:solidFill>
                <a:latin typeface="Consolas"/>
                <a:ea typeface="DejaVu Sans"/>
              </a:rPr>
              <a:t>01</a:t>
            </a:r>
            <a:endParaRPr b="0" lang="fr-CA" sz="2200" spc="-1" strike="noStrike">
              <a:latin typeface="Arial"/>
            </a:endParaRPr>
          </a:p>
        </p:txBody>
      </p:sp>
      <p:sp>
        <p:nvSpPr>
          <p:cNvPr id="422" name="TextBox 7"/>
          <p:cNvSpPr/>
          <p:nvPr/>
        </p:nvSpPr>
        <p:spPr>
          <a:xfrm>
            <a:off x="1645920" y="1371600"/>
            <a:ext cx="987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L'hybride est la bonne forme</a:t>
            </a:r>
            <a:endParaRPr b="0" lang="fr-CA" sz="1500" spc="-1" strike="noStrike">
              <a:latin typeface="Arial"/>
            </a:endParaRPr>
          </a:p>
        </p:txBody>
      </p:sp>
      <p:sp>
        <p:nvSpPr>
          <p:cNvPr id="423" name="TextBox 8"/>
          <p:cNvSpPr/>
          <p:nvPr/>
        </p:nvSpPr>
        <p:spPr>
          <a:xfrm>
            <a:off x="1645920" y="1737360"/>
            <a:ext cx="9873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mmBERT (lexical + vitesse) × Mistral (sémantique) × Gate 12 (règle clinique)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424" name="Rounded Rectangle 9"/>
          <p:cNvSpPr/>
          <p:nvPr/>
        </p:nvSpPr>
        <p:spPr>
          <a:xfrm>
            <a:off x="457200" y="2286000"/>
            <a:ext cx="11244600" cy="9118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5" name="TextBox 10"/>
          <p:cNvSpPr/>
          <p:nvPr/>
        </p:nvSpPr>
        <p:spPr>
          <a:xfrm>
            <a:off x="640080" y="2514600"/>
            <a:ext cx="9118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5ec8ff"/>
                </a:solidFill>
                <a:latin typeface="Consolas"/>
                <a:ea typeface="DejaVu Sans"/>
              </a:rPr>
              <a:t>02</a:t>
            </a:r>
            <a:endParaRPr b="0" lang="fr-CA" sz="2200" spc="-1" strike="noStrike">
              <a:latin typeface="Arial"/>
            </a:endParaRPr>
          </a:p>
        </p:txBody>
      </p:sp>
      <p:sp>
        <p:nvSpPr>
          <p:cNvPr id="426" name="TextBox 11"/>
          <p:cNvSpPr/>
          <p:nvPr/>
        </p:nvSpPr>
        <p:spPr>
          <a:xfrm>
            <a:off x="1645920" y="2377440"/>
            <a:ext cx="987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La fusion de scores continus bat l'empilement binaire</a:t>
            </a:r>
            <a:endParaRPr b="0" lang="fr-CA" sz="1500" spc="-1" strike="noStrike">
              <a:latin typeface="Arial"/>
            </a:endParaRPr>
          </a:p>
        </p:txBody>
      </p:sp>
      <p:sp>
        <p:nvSpPr>
          <p:cNvPr id="427" name="TextBox 12"/>
          <p:cNvSpPr/>
          <p:nvPr/>
        </p:nvSpPr>
        <p:spPr>
          <a:xfrm>
            <a:off x="1645920" y="2743200"/>
            <a:ext cx="9873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fused = 0,4·bert + 0,6·llm · un seul bouton, compromis doux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428" name="Rounded Rectangle 13"/>
          <p:cNvSpPr/>
          <p:nvPr/>
        </p:nvSpPr>
        <p:spPr>
          <a:xfrm>
            <a:off x="457200" y="3291840"/>
            <a:ext cx="11244600" cy="9118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9" name="TextBox 14"/>
          <p:cNvSpPr/>
          <p:nvPr/>
        </p:nvSpPr>
        <p:spPr>
          <a:xfrm>
            <a:off x="640080" y="3520440"/>
            <a:ext cx="9118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5ec8ff"/>
                </a:solidFill>
                <a:latin typeface="Consolas"/>
                <a:ea typeface="DejaVu Sans"/>
              </a:rPr>
              <a:t>03</a:t>
            </a:r>
            <a:endParaRPr b="0" lang="fr-CA" sz="2200" spc="-1" strike="noStrike">
              <a:latin typeface="Arial"/>
            </a:endParaRPr>
          </a:p>
        </p:txBody>
      </p:sp>
      <p:sp>
        <p:nvSpPr>
          <p:cNvPr id="430" name="TextBox 15"/>
          <p:cNvSpPr/>
          <p:nvPr/>
        </p:nvSpPr>
        <p:spPr>
          <a:xfrm>
            <a:off x="1645920" y="3383280"/>
            <a:ext cx="987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Le prompt est le vrai levier côté LLM</a:t>
            </a:r>
            <a:endParaRPr b="0" lang="fr-CA" sz="1500" spc="-1" strike="noStrike">
              <a:latin typeface="Arial"/>
            </a:endParaRPr>
          </a:p>
        </p:txBody>
      </p:sp>
      <p:sp>
        <p:nvSpPr>
          <p:cNvPr id="431" name="TextBox 16"/>
          <p:cNvSpPr/>
          <p:nvPr/>
        </p:nvSpPr>
        <p:spPr>
          <a:xfrm>
            <a:off x="1645920" y="3749040"/>
            <a:ext cx="9873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8 signaux + 11 few-shots + français québécois · plus que le choix du modèle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432" name="Rounded Rectangle 17"/>
          <p:cNvSpPr/>
          <p:nvPr/>
        </p:nvSpPr>
        <p:spPr>
          <a:xfrm>
            <a:off x="457200" y="4297680"/>
            <a:ext cx="11244600" cy="9118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3" name="TextBox 18"/>
          <p:cNvSpPr/>
          <p:nvPr/>
        </p:nvSpPr>
        <p:spPr>
          <a:xfrm>
            <a:off x="640080" y="4526280"/>
            <a:ext cx="9118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5ec8ff"/>
                </a:solidFill>
                <a:latin typeface="Consolas"/>
                <a:ea typeface="DejaVu Sans"/>
              </a:rPr>
              <a:t>04</a:t>
            </a:r>
            <a:endParaRPr b="0" lang="fr-CA" sz="2200" spc="-1" strike="noStrike">
              <a:latin typeface="Arial"/>
            </a:endParaRPr>
          </a:p>
        </p:txBody>
      </p:sp>
      <p:sp>
        <p:nvSpPr>
          <p:cNvPr id="434" name="TextBox 19"/>
          <p:cNvSpPr/>
          <p:nvPr/>
        </p:nvSpPr>
        <p:spPr>
          <a:xfrm>
            <a:off x="1645920" y="4389120"/>
            <a:ext cx="987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Qualité des données &gt; quantité</a:t>
            </a:r>
            <a:endParaRPr b="0" lang="fr-CA" sz="1500" spc="-1" strike="noStrike">
              <a:latin typeface="Arial"/>
            </a:endParaRPr>
          </a:p>
        </p:txBody>
      </p:sp>
      <p:sp>
        <p:nvSpPr>
          <p:cNvPr id="435" name="TextBox 20"/>
          <p:cNvSpPr/>
          <p:nvPr/>
        </p:nvSpPr>
        <p:spPr>
          <a:xfrm>
            <a:off x="1645920" y="4754880"/>
            <a:ext cx="9873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784 curées battent 1 037 plus larges · l'alignement de distribution compte</a:t>
            </a:r>
            <a:endParaRPr b="0" lang="fr-CA" sz="1200" spc="-1" strike="noStrike">
              <a:latin typeface="Arial"/>
            </a:endParaRPr>
          </a:p>
        </p:txBody>
      </p:sp>
      <p:sp>
        <p:nvSpPr>
          <p:cNvPr id="436" name="Rounded Rectangle 21"/>
          <p:cNvSpPr/>
          <p:nvPr/>
        </p:nvSpPr>
        <p:spPr>
          <a:xfrm>
            <a:off x="457200" y="5303520"/>
            <a:ext cx="11244600" cy="91188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7" name="TextBox 22"/>
          <p:cNvSpPr/>
          <p:nvPr/>
        </p:nvSpPr>
        <p:spPr>
          <a:xfrm>
            <a:off x="640080" y="5532120"/>
            <a:ext cx="9118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5ec8ff"/>
                </a:solidFill>
                <a:latin typeface="Consolas"/>
                <a:ea typeface="DejaVu Sans"/>
              </a:rPr>
              <a:t>05</a:t>
            </a:r>
            <a:endParaRPr b="0" lang="fr-CA" sz="2200" spc="-1" strike="noStrike">
              <a:latin typeface="Arial"/>
            </a:endParaRPr>
          </a:p>
        </p:txBody>
      </p:sp>
      <p:sp>
        <p:nvSpPr>
          <p:cNvPr id="438" name="TextBox 23"/>
          <p:cNvSpPr/>
          <p:nvPr/>
        </p:nvSpPr>
        <p:spPr>
          <a:xfrm>
            <a:off x="1645920" y="5394960"/>
            <a:ext cx="987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2f2f2"/>
                </a:solidFill>
                <a:latin typeface="Calibri"/>
                <a:ea typeface="DejaVu Sans"/>
              </a:rPr>
              <a:t>F1 = 0,876  ·  P = 0,833  ·  R = 0,923  ·  ~1 s</a:t>
            </a:r>
            <a:endParaRPr b="0" lang="fr-CA" sz="1500" spc="-1" strike="noStrike">
              <a:latin typeface="Arial"/>
            </a:endParaRPr>
          </a:p>
        </p:txBody>
      </p:sp>
      <p:sp>
        <p:nvSpPr>
          <p:cNvPr id="439" name="TextBox 24"/>
          <p:cNvSpPr/>
          <p:nvPr/>
        </p:nvSpPr>
        <p:spPr>
          <a:xfrm>
            <a:off x="1645920" y="5760720"/>
            <a:ext cx="9873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aa3b2"/>
                </a:solidFill>
                <a:latin typeface="Consolas"/>
                <a:ea typeface="DejaVu Sans"/>
              </a:rPr>
              <a:t>design orienté rappel · coût FN ≫ coût FP en santé mentale jeunesse</a:t>
            </a:r>
            <a:endParaRPr b="0" lang="fr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fr-CA</dc:language>
  <cp:lastModifiedBy/>
  <dcterms:modified xsi:type="dcterms:W3CDTF">2026-04-14T19:57:56Z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